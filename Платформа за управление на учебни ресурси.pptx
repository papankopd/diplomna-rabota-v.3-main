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Quattrocento 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508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794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Платформа за управление на учебни ресурси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48000" y="457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Дипломен проект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5334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Николай Иванов Недялков, 12А клас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48000" y="5778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Професия: Компютърни науки | Специалност: Приложно програмиране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48000" y="6223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Ръководител: Галина Иванова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48000" y="7112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град Стара Загора | 2026 година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479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Съдържание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524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7112000" cy="3048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05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73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Въведение и проблематика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238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Анализ на предметната област, цели и задачи на проекта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651000"/>
            <a:ext cx="7112000" cy="3048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0" y="1905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63000" y="2730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Технологии и архитектура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0" y="3238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Технологичен стек, системна архитектура и база данни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7112000" cy="3048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334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6159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Реализация и ключови модули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6667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Практическа имплементация на софтуерните компоненти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5080000"/>
            <a:ext cx="7112000" cy="3048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5334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63000" y="6159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Бъдещо развитие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66675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Възможности за надграждане и разширяване на платформата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5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C47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270000" cy="508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Въведение и проблематика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Анализ на предметната област, цели и задачи на проекта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479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5F3F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" y="50800"/>
            <a:ext cx="38608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Въведение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Технологии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Реализация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412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Бъдеще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Проблеми в съвременното образование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524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0025" y="0"/>
                </a:moveTo>
                <a:cubicBezTo>
                  <a:pt x="231547" y="0"/>
                  <a:pt x="257175" y="19199"/>
                  <a:pt x="257175" y="42863"/>
                </a:cubicBezTo>
                <a:cubicBezTo>
                  <a:pt x="257175" y="52149"/>
                  <a:pt x="253246" y="60722"/>
                  <a:pt x="246459" y="67776"/>
                </a:cubicBezTo>
                <a:cubicBezTo>
                  <a:pt x="240566" y="73938"/>
                  <a:pt x="235744" y="81439"/>
                  <a:pt x="235744" y="90011"/>
                </a:cubicBezTo>
                <a:cubicBezTo>
                  <a:pt x="235744" y="103406"/>
                  <a:pt x="246638" y="114300"/>
                  <a:pt x="260033" y="114300"/>
                </a:cubicBezTo>
                <a:lnTo>
                  <a:pt x="300038" y="114300"/>
                </a:lnTo>
                <a:cubicBezTo>
                  <a:pt x="323701" y="114300"/>
                  <a:pt x="342900" y="133499"/>
                  <a:pt x="342900" y="157163"/>
                </a:cubicBezTo>
                <a:lnTo>
                  <a:pt x="342900" y="197168"/>
                </a:lnTo>
                <a:cubicBezTo>
                  <a:pt x="342900" y="210562"/>
                  <a:pt x="353794" y="221456"/>
                  <a:pt x="367189" y="221456"/>
                </a:cubicBezTo>
                <a:cubicBezTo>
                  <a:pt x="375672" y="221456"/>
                  <a:pt x="383262" y="216634"/>
                  <a:pt x="389424" y="210741"/>
                </a:cubicBezTo>
                <a:cubicBezTo>
                  <a:pt x="396478" y="204043"/>
                  <a:pt x="405051" y="200025"/>
                  <a:pt x="414337" y="200025"/>
                </a:cubicBezTo>
                <a:cubicBezTo>
                  <a:pt x="438001" y="200025"/>
                  <a:pt x="457200" y="225653"/>
                  <a:pt x="457200" y="257175"/>
                </a:cubicBezTo>
                <a:cubicBezTo>
                  <a:pt x="457200" y="288697"/>
                  <a:pt x="438001" y="314325"/>
                  <a:pt x="414337" y="314325"/>
                </a:cubicBezTo>
                <a:cubicBezTo>
                  <a:pt x="405051" y="314325"/>
                  <a:pt x="396389" y="310396"/>
                  <a:pt x="389424" y="303609"/>
                </a:cubicBezTo>
                <a:cubicBezTo>
                  <a:pt x="383262" y="297716"/>
                  <a:pt x="375761" y="292894"/>
                  <a:pt x="367189" y="292894"/>
                </a:cubicBezTo>
                <a:cubicBezTo>
                  <a:pt x="353794" y="292894"/>
                  <a:pt x="342900" y="303788"/>
                  <a:pt x="342900" y="317183"/>
                </a:cubicBezTo>
                <a:lnTo>
                  <a:pt x="342900" y="414338"/>
                </a:lnTo>
                <a:cubicBezTo>
                  <a:pt x="342900" y="438001"/>
                  <a:pt x="323701" y="457200"/>
                  <a:pt x="300038" y="457200"/>
                </a:cubicBezTo>
                <a:lnTo>
                  <a:pt x="249317" y="457200"/>
                </a:lnTo>
                <a:cubicBezTo>
                  <a:pt x="237887" y="457200"/>
                  <a:pt x="228600" y="447913"/>
                  <a:pt x="228600" y="436483"/>
                </a:cubicBezTo>
                <a:cubicBezTo>
                  <a:pt x="228600" y="428268"/>
                  <a:pt x="233779" y="421035"/>
                  <a:pt x="240387" y="416123"/>
                </a:cubicBezTo>
                <a:cubicBezTo>
                  <a:pt x="250746" y="408355"/>
                  <a:pt x="257175" y="397639"/>
                  <a:pt x="257175" y="385763"/>
                </a:cubicBezTo>
                <a:cubicBezTo>
                  <a:pt x="257175" y="362099"/>
                  <a:pt x="231547" y="342900"/>
                  <a:pt x="200025" y="342900"/>
                </a:cubicBezTo>
                <a:cubicBezTo>
                  <a:pt x="168503" y="342900"/>
                  <a:pt x="142875" y="362099"/>
                  <a:pt x="142875" y="385763"/>
                </a:cubicBezTo>
                <a:cubicBezTo>
                  <a:pt x="142875" y="397639"/>
                  <a:pt x="149304" y="408355"/>
                  <a:pt x="159663" y="416123"/>
                </a:cubicBezTo>
                <a:cubicBezTo>
                  <a:pt x="166271" y="421035"/>
                  <a:pt x="171450" y="428179"/>
                  <a:pt x="171450" y="436483"/>
                </a:cubicBezTo>
                <a:cubicBezTo>
                  <a:pt x="171450" y="447913"/>
                  <a:pt x="162163" y="457200"/>
                  <a:pt x="150733" y="457200"/>
                </a:cubicBezTo>
                <a:lnTo>
                  <a:pt x="42863" y="457200"/>
                </a:lnTo>
                <a:cubicBezTo>
                  <a:pt x="19199" y="457200"/>
                  <a:pt x="0" y="438001"/>
                  <a:pt x="0" y="414338"/>
                </a:cubicBezTo>
                <a:lnTo>
                  <a:pt x="0" y="306467"/>
                </a:lnTo>
                <a:cubicBezTo>
                  <a:pt x="0" y="295037"/>
                  <a:pt x="9287" y="285750"/>
                  <a:pt x="20717" y="285750"/>
                </a:cubicBezTo>
                <a:cubicBezTo>
                  <a:pt x="28932" y="285750"/>
                  <a:pt x="36165" y="290929"/>
                  <a:pt x="41077" y="297537"/>
                </a:cubicBezTo>
                <a:cubicBezTo>
                  <a:pt x="48845" y="307896"/>
                  <a:pt x="59561" y="314325"/>
                  <a:pt x="71438" y="314325"/>
                </a:cubicBezTo>
                <a:cubicBezTo>
                  <a:pt x="95101" y="314325"/>
                  <a:pt x="114300" y="288697"/>
                  <a:pt x="114300" y="257175"/>
                </a:cubicBezTo>
                <a:cubicBezTo>
                  <a:pt x="114300" y="225653"/>
                  <a:pt x="95101" y="200025"/>
                  <a:pt x="71438" y="200025"/>
                </a:cubicBezTo>
                <a:cubicBezTo>
                  <a:pt x="59561" y="200025"/>
                  <a:pt x="48845" y="206454"/>
                  <a:pt x="41077" y="216813"/>
                </a:cubicBezTo>
                <a:cubicBezTo>
                  <a:pt x="36165" y="223421"/>
                  <a:pt x="29021" y="228600"/>
                  <a:pt x="20717" y="228600"/>
                </a:cubicBezTo>
                <a:cubicBezTo>
                  <a:pt x="9287" y="228600"/>
                  <a:pt x="0" y="219313"/>
                  <a:pt x="0" y="207883"/>
                </a:cubicBezTo>
                <a:lnTo>
                  <a:pt x="0" y="157163"/>
                </a:lnTo>
                <a:cubicBezTo>
                  <a:pt x="0" y="133499"/>
                  <a:pt x="19199" y="114300"/>
                  <a:pt x="42863" y="114300"/>
                </a:cubicBezTo>
                <a:lnTo>
                  <a:pt x="140018" y="114300"/>
                </a:lnTo>
                <a:cubicBezTo>
                  <a:pt x="153412" y="114300"/>
                  <a:pt x="164306" y="103406"/>
                  <a:pt x="164306" y="90011"/>
                </a:cubicBezTo>
                <a:cubicBezTo>
                  <a:pt x="164306" y="81528"/>
                  <a:pt x="159484" y="73938"/>
                  <a:pt x="153591" y="67776"/>
                </a:cubicBezTo>
                <a:cubicBezTo>
                  <a:pt x="146893" y="60722"/>
                  <a:pt x="142875" y="52149"/>
                  <a:pt x="142875" y="42863"/>
                </a:cubicBezTo>
                <a:cubicBezTo>
                  <a:pt x="142875" y="19199"/>
                  <a:pt x="168503" y="0"/>
                  <a:pt x="200025" y="0"/>
                </a:cubicBezTo>
                <a:close/>
              </a:path>
            </a:pathLst>
          </a:custGeom>
          <a:solidFill>
            <a:srgbClr val="C4793B"/>
          </a:solidFill>
          <a:ln/>
        </p:spPr>
      </p:sp>
      <p:sp>
        <p:nvSpPr>
          <p:cNvPr id="11" name="Text 9"/>
          <p:cNvSpPr/>
          <p:nvPr/>
        </p:nvSpPr>
        <p:spPr>
          <a:xfrm>
            <a:off x="1651000" y="1778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Фрагментирани системи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2222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Учебните материали са разпръснати в различни платформи без централизирано управление и структуриране.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16000" y="355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C47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3556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Липса на сигурност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1000" y="4000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Съществуващите платформи не предлагат адекватна защита — липсва JWT автентикация, RBAC контрол и криптиране на пароли.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7425" y="5334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6612" y="-22235"/>
                </a:moveTo>
                <a:cubicBezTo>
                  <a:pt x="28218" y="-30629"/>
                  <a:pt x="14645" y="-30629"/>
                  <a:pt x="6340" y="-22235"/>
                </a:cubicBezTo>
                <a:cubicBezTo>
                  <a:pt x="-1965" y="-13841"/>
                  <a:pt x="-2054" y="-268"/>
                  <a:pt x="6251" y="8126"/>
                </a:cubicBezTo>
                <a:lnTo>
                  <a:pt x="477738" y="479614"/>
                </a:lnTo>
                <a:cubicBezTo>
                  <a:pt x="486132" y="488007"/>
                  <a:pt x="499705" y="488007"/>
                  <a:pt x="508010" y="479614"/>
                </a:cubicBezTo>
                <a:cubicBezTo>
                  <a:pt x="516315" y="471220"/>
                  <a:pt x="516404" y="457646"/>
                  <a:pt x="508010" y="449342"/>
                </a:cubicBezTo>
                <a:lnTo>
                  <a:pt x="421928" y="363260"/>
                </a:lnTo>
                <a:cubicBezTo>
                  <a:pt x="424339" y="361117"/>
                  <a:pt x="426750" y="358973"/>
                  <a:pt x="429071" y="356830"/>
                </a:cubicBezTo>
                <a:cubicBezTo>
                  <a:pt x="470862" y="317986"/>
                  <a:pt x="498812" y="271641"/>
                  <a:pt x="512118" y="239762"/>
                </a:cubicBezTo>
                <a:cubicBezTo>
                  <a:pt x="515064" y="232708"/>
                  <a:pt x="515064" y="224850"/>
                  <a:pt x="512118" y="217795"/>
                </a:cubicBezTo>
                <a:cubicBezTo>
                  <a:pt x="498812" y="185916"/>
                  <a:pt x="470862" y="139482"/>
                  <a:pt x="429071" y="100727"/>
                </a:cubicBezTo>
                <a:cubicBezTo>
                  <a:pt x="387013" y="61704"/>
                  <a:pt x="329238" y="28754"/>
                  <a:pt x="257086" y="28754"/>
                </a:cubicBezTo>
                <a:cubicBezTo>
                  <a:pt x="206365" y="28754"/>
                  <a:pt x="162788" y="45006"/>
                  <a:pt x="126712" y="68223"/>
                </a:cubicBezTo>
                <a:lnTo>
                  <a:pt x="36612" y="-22235"/>
                </a:lnTo>
                <a:close/>
                <a:moveTo>
                  <a:pt x="182612" y="123855"/>
                </a:moveTo>
                <a:cubicBezTo>
                  <a:pt x="203597" y="108853"/>
                  <a:pt x="229404" y="100012"/>
                  <a:pt x="257175" y="100012"/>
                </a:cubicBezTo>
                <a:cubicBezTo>
                  <a:pt x="328166" y="100012"/>
                  <a:pt x="385763" y="157609"/>
                  <a:pt x="385763" y="228600"/>
                </a:cubicBezTo>
                <a:cubicBezTo>
                  <a:pt x="385763" y="256371"/>
                  <a:pt x="376922" y="282089"/>
                  <a:pt x="361920" y="303163"/>
                </a:cubicBezTo>
                <a:lnTo>
                  <a:pt x="330934" y="272177"/>
                </a:lnTo>
                <a:cubicBezTo>
                  <a:pt x="342275" y="253067"/>
                  <a:pt x="346115" y="229582"/>
                  <a:pt x="339953" y="206365"/>
                </a:cubicBezTo>
                <a:cubicBezTo>
                  <a:pt x="327720" y="160645"/>
                  <a:pt x="280660" y="133499"/>
                  <a:pt x="234940" y="145733"/>
                </a:cubicBezTo>
                <a:cubicBezTo>
                  <a:pt x="227261" y="147786"/>
                  <a:pt x="220028" y="150822"/>
                  <a:pt x="213509" y="154662"/>
                </a:cubicBezTo>
                <a:lnTo>
                  <a:pt x="182523" y="123676"/>
                </a:lnTo>
                <a:close/>
                <a:moveTo>
                  <a:pt x="290483" y="352812"/>
                </a:moveTo>
                <a:cubicBezTo>
                  <a:pt x="279856" y="355669"/>
                  <a:pt x="268694" y="357188"/>
                  <a:pt x="257175" y="357188"/>
                </a:cubicBezTo>
                <a:cubicBezTo>
                  <a:pt x="186184" y="357188"/>
                  <a:pt x="128588" y="299591"/>
                  <a:pt x="128588" y="228600"/>
                </a:cubicBezTo>
                <a:cubicBezTo>
                  <a:pt x="128588" y="217081"/>
                  <a:pt x="130106" y="205919"/>
                  <a:pt x="132963" y="195292"/>
                </a:cubicBezTo>
                <a:lnTo>
                  <a:pt x="61972" y="124301"/>
                </a:lnTo>
                <a:cubicBezTo>
                  <a:pt x="32861" y="157163"/>
                  <a:pt x="12859" y="191988"/>
                  <a:pt x="2232" y="217616"/>
                </a:cubicBezTo>
                <a:cubicBezTo>
                  <a:pt x="-714" y="224671"/>
                  <a:pt x="-714" y="232529"/>
                  <a:pt x="2232" y="239584"/>
                </a:cubicBezTo>
                <a:cubicBezTo>
                  <a:pt x="15538" y="271463"/>
                  <a:pt x="43488" y="317897"/>
                  <a:pt x="85279" y="356652"/>
                </a:cubicBezTo>
                <a:cubicBezTo>
                  <a:pt x="127337" y="395674"/>
                  <a:pt x="185112" y="428625"/>
                  <a:pt x="257264" y="428625"/>
                </a:cubicBezTo>
                <a:cubicBezTo>
                  <a:pt x="290572" y="428625"/>
                  <a:pt x="320844" y="421571"/>
                  <a:pt x="347901" y="410230"/>
                </a:cubicBezTo>
                <a:lnTo>
                  <a:pt x="290572" y="352901"/>
                </a:lnTo>
                <a:close/>
              </a:path>
            </a:pathLst>
          </a:custGeom>
          <a:solidFill>
            <a:srgbClr val="C4793B"/>
          </a:solidFill>
          <a:ln/>
        </p:spPr>
      </p:sp>
      <p:sp>
        <p:nvSpPr>
          <p:cNvPr id="17" name="Text 15"/>
          <p:cNvSpPr/>
          <p:nvPr/>
        </p:nvSpPr>
        <p:spPr>
          <a:xfrm>
            <a:off x="1651000" y="5334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Ограничен контрол на достъпа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5778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Невъзможност за стриктно ограничаване на материали до конкретен клас или група ученици.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16000" y="711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C47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7112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Остарели интерфейси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51000" y="7556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Сложни и претрупани потребителски интерфейси, които затрудняват работата на учители и ученици.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636000" y="1651000"/>
            <a:ext cx="6858000" cy="6858000"/>
          </a:xfrm>
          <a:prstGeom prst="roundRect">
            <a:avLst>
              <a:gd name="adj" fmla="val 6000"/>
            </a:avLst>
          </a:prstGeom>
          <a:solidFill>
            <a:srgbClr val="2D5F3F"/>
          </a:solidFill>
          <a:ln/>
        </p:spPr>
      </p:sp>
      <p:sp>
        <p:nvSpPr>
          <p:cNvPr id="23" name="Text 21"/>
          <p:cNvSpPr/>
          <p:nvPr/>
        </p:nvSpPr>
        <p:spPr>
          <a:xfrm>
            <a:off x="9017000" y="2032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Нужда от модерно решение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17000" y="2590800"/>
            <a:ext cx="1016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25" name="Text 23"/>
          <p:cNvSpPr/>
          <p:nvPr/>
        </p:nvSpPr>
        <p:spPr>
          <a:xfrm>
            <a:off x="9017000" y="2857500"/>
            <a:ext cx="6096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 преминаването към дигитално обучение, изискванията към автентикацията, защитата от атаки и управлението на файлови ресурси значително се увеличават.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Необходима е платформа, която комбинира: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Надеждно удостоверяване с JWT токени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Ролев модел за достъп (RBAC)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Многоизмерна категоризация на материали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Мулти-файлови качвания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Интуитивен адаптивен интерфейс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5F3F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" y="50800"/>
            <a:ext cx="38608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Въведение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Технологии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Реализация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412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Бъдеще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Цели и задачи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524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2D5F3F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1714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ОСНОВНА ЦЕЛ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0955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Проектиране и реализиране на сигурна уеб базирана система за управление на образователни материали с вграден ролево-базиран контрол на достъпа (RBAC).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317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ЗАДАЧИ ЗА ИЗПЪЛНЕНИЕ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746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393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09563" y="154781"/>
                </a:moveTo>
                <a:cubicBezTo>
                  <a:pt x="309563" y="188937"/>
                  <a:pt x="298475" y="220489"/>
                  <a:pt x="279797" y="246087"/>
                </a:cubicBezTo>
                <a:lnTo>
                  <a:pt x="374005" y="340370"/>
                </a:lnTo>
                <a:cubicBezTo>
                  <a:pt x="383307" y="349672"/>
                  <a:pt x="383307" y="364778"/>
                  <a:pt x="374005" y="374079"/>
                </a:cubicBezTo>
                <a:cubicBezTo>
                  <a:pt x="364703" y="383381"/>
                  <a:pt x="349597" y="383381"/>
                  <a:pt x="340296" y="374079"/>
                </a:cubicBezTo>
                <a:lnTo>
                  <a:pt x="246087" y="279797"/>
                </a:lnTo>
                <a:cubicBezTo>
                  <a:pt x="220489" y="298475"/>
                  <a:pt x="188937" y="309563"/>
                  <a:pt x="154781" y="309563"/>
                </a:cubicBezTo>
                <a:cubicBezTo>
                  <a:pt x="69279" y="309563"/>
                  <a:pt x="0" y="240283"/>
                  <a:pt x="0" y="154781"/>
                </a:cubicBezTo>
                <a:cubicBezTo>
                  <a:pt x="0" y="69279"/>
                  <a:pt x="69279" y="0"/>
                  <a:pt x="154781" y="0"/>
                </a:cubicBezTo>
                <a:cubicBezTo>
                  <a:pt x="240283" y="0"/>
                  <a:pt x="309563" y="69279"/>
                  <a:pt x="309563" y="154781"/>
                </a:cubicBezTo>
                <a:close/>
                <a:moveTo>
                  <a:pt x="154781" y="261938"/>
                </a:moveTo>
                <a:cubicBezTo>
                  <a:pt x="213922" y="261938"/>
                  <a:pt x="261938" y="213922"/>
                  <a:pt x="261938" y="154781"/>
                </a:cubicBezTo>
                <a:cubicBezTo>
                  <a:pt x="261938" y="95640"/>
                  <a:pt x="213922" y="47625"/>
                  <a:pt x="154781" y="47625"/>
                </a:cubicBezTo>
                <a:cubicBezTo>
                  <a:pt x="95640" y="47625"/>
                  <a:pt x="47625" y="95640"/>
                  <a:pt x="47625" y="154781"/>
                </a:cubicBezTo>
                <a:cubicBezTo>
                  <a:pt x="47625" y="213922"/>
                  <a:pt x="95640" y="261938"/>
                  <a:pt x="154781" y="261938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393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Анализ на изискванията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4445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Анализ на нуждите за сигурност и потребителските изисквания на платформата.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8500" y="3746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9" name="Shape 17"/>
          <p:cNvSpPr/>
          <p:nvPr/>
        </p:nvSpPr>
        <p:spPr>
          <a:xfrm>
            <a:off x="6056313" y="3937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333375" y="153144"/>
                </a:moveTo>
                <a:cubicBezTo>
                  <a:pt x="322362" y="160437"/>
                  <a:pt x="309711" y="166315"/>
                  <a:pt x="296540" y="171004"/>
                </a:cubicBezTo>
                <a:cubicBezTo>
                  <a:pt x="261565" y="183505"/>
                  <a:pt x="215652" y="190500"/>
                  <a:pt x="166688" y="190500"/>
                </a:cubicBezTo>
                <a:cubicBezTo>
                  <a:pt x="117723" y="190500"/>
                  <a:pt x="71735" y="183431"/>
                  <a:pt x="36835" y="171004"/>
                </a:cubicBezTo>
                <a:cubicBezTo>
                  <a:pt x="23738" y="166315"/>
                  <a:pt x="11013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74637" y="273844"/>
                  <a:pt x="166688" y="273844"/>
                </a:cubicBezTo>
                <a:cubicBezTo>
                  <a:pt x="258738" y="273844"/>
                  <a:pt x="333375" y="247204"/>
                  <a:pt x="333375" y="214313"/>
                </a:cubicBezTo>
                <a:lnTo>
                  <a:pt x="333375" y="153144"/>
                </a:lnTo>
                <a:close/>
                <a:moveTo>
                  <a:pt x="333375" y="95250"/>
                </a:moveTo>
                <a:lnTo>
                  <a:pt x="333375" y="59531"/>
                </a:lnTo>
                <a:cubicBezTo>
                  <a:pt x="333375" y="26640"/>
                  <a:pt x="258738" y="0"/>
                  <a:pt x="166688" y="0"/>
                </a:cubicBezTo>
                <a:cubicBezTo>
                  <a:pt x="74637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74637" y="154781"/>
                  <a:pt x="166688" y="154781"/>
                </a:cubicBezTo>
                <a:cubicBezTo>
                  <a:pt x="258738" y="154781"/>
                  <a:pt x="333375" y="128141"/>
                  <a:pt x="333375" y="95250"/>
                </a:cubicBezTo>
                <a:close/>
                <a:moveTo>
                  <a:pt x="296540" y="290066"/>
                </a:moveTo>
                <a:cubicBezTo>
                  <a:pt x="261640" y="302493"/>
                  <a:pt x="215726" y="309563"/>
                  <a:pt x="166688" y="309563"/>
                </a:cubicBezTo>
                <a:cubicBezTo>
                  <a:pt x="117649" y="309563"/>
                  <a:pt x="71735" y="302493"/>
                  <a:pt x="36835" y="290066"/>
                </a:cubicBezTo>
                <a:cubicBezTo>
                  <a:pt x="23738" y="285378"/>
                  <a:pt x="11013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74637" y="381000"/>
                  <a:pt x="166688" y="381000"/>
                </a:cubicBezTo>
                <a:cubicBezTo>
                  <a:pt x="258738" y="381000"/>
                  <a:pt x="333375" y="354360"/>
                  <a:pt x="333375" y="321469"/>
                </a:cubicBezTo>
                <a:lnTo>
                  <a:pt x="333375" y="272207"/>
                </a:lnTo>
                <a:cubicBezTo>
                  <a:pt x="322362" y="279499"/>
                  <a:pt x="309711" y="285378"/>
                  <a:pt x="296540" y="290066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20" name="Text 18"/>
          <p:cNvSpPr/>
          <p:nvPr/>
        </p:nvSpPr>
        <p:spPr>
          <a:xfrm>
            <a:off x="6540500" y="393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Проектиране на база данни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0" y="4445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Релационен модел за управление на потребители, класове, предмети и материали.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795000" y="3746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49000" y="393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50031" y="261938"/>
                </a:moveTo>
                <a:cubicBezTo>
                  <a:pt x="322362" y="261938"/>
                  <a:pt x="381000" y="203299"/>
                  <a:pt x="381000" y="130969"/>
                </a:cubicBezTo>
                <a:cubicBezTo>
                  <a:pt x="381000" y="58638"/>
                  <a:pt x="322362" y="0"/>
                  <a:pt x="250031" y="0"/>
                </a:cubicBezTo>
                <a:cubicBezTo>
                  <a:pt x="177701" y="0"/>
                  <a:pt x="119063" y="58638"/>
                  <a:pt x="119063" y="130969"/>
                </a:cubicBezTo>
                <a:cubicBezTo>
                  <a:pt x="119063" y="144884"/>
                  <a:pt x="121221" y="158353"/>
                  <a:pt x="125239" y="170929"/>
                </a:cubicBezTo>
                <a:lnTo>
                  <a:pt x="5209" y="290959"/>
                </a:lnTo>
                <a:cubicBezTo>
                  <a:pt x="1860" y="294308"/>
                  <a:pt x="0" y="298847"/>
                  <a:pt x="0" y="303609"/>
                </a:cubicBezTo>
                <a:lnTo>
                  <a:pt x="0" y="363141"/>
                </a:lnTo>
                <a:cubicBezTo>
                  <a:pt x="0" y="373038"/>
                  <a:pt x="7962" y="381000"/>
                  <a:pt x="17859" y="381000"/>
                </a:cubicBezTo>
                <a:lnTo>
                  <a:pt x="77391" y="381000"/>
                </a:lnTo>
                <a:cubicBezTo>
                  <a:pt x="87288" y="381000"/>
                  <a:pt x="95250" y="373038"/>
                  <a:pt x="95250" y="363141"/>
                </a:cubicBezTo>
                <a:lnTo>
                  <a:pt x="95250" y="333375"/>
                </a:lnTo>
                <a:lnTo>
                  <a:pt x="125016" y="333375"/>
                </a:lnTo>
                <a:cubicBezTo>
                  <a:pt x="134913" y="333375"/>
                  <a:pt x="142875" y="325413"/>
                  <a:pt x="142875" y="315516"/>
                </a:cubicBezTo>
                <a:lnTo>
                  <a:pt x="142875" y="285750"/>
                </a:lnTo>
                <a:lnTo>
                  <a:pt x="172641" y="285750"/>
                </a:lnTo>
                <a:cubicBezTo>
                  <a:pt x="177403" y="285750"/>
                  <a:pt x="181942" y="283890"/>
                  <a:pt x="185291" y="280541"/>
                </a:cubicBezTo>
                <a:lnTo>
                  <a:pt x="210071" y="255761"/>
                </a:lnTo>
                <a:cubicBezTo>
                  <a:pt x="222647" y="259779"/>
                  <a:pt x="236116" y="261938"/>
                  <a:pt x="250031" y="261938"/>
                </a:cubicBezTo>
                <a:close/>
                <a:moveTo>
                  <a:pt x="279797" y="71438"/>
                </a:moveTo>
                <a:cubicBezTo>
                  <a:pt x="296225" y="71438"/>
                  <a:pt x="309563" y="84775"/>
                  <a:pt x="309563" y="101203"/>
                </a:cubicBezTo>
                <a:cubicBezTo>
                  <a:pt x="309563" y="117631"/>
                  <a:pt x="296225" y="130969"/>
                  <a:pt x="279797" y="130969"/>
                </a:cubicBezTo>
                <a:cubicBezTo>
                  <a:pt x="263369" y="130969"/>
                  <a:pt x="250031" y="117631"/>
                  <a:pt x="250031" y="101203"/>
                </a:cubicBezTo>
                <a:cubicBezTo>
                  <a:pt x="250031" y="84775"/>
                  <a:pt x="263369" y="71438"/>
                  <a:pt x="279797" y="71438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24" name="Text 22"/>
          <p:cNvSpPr/>
          <p:nvPr/>
        </p:nvSpPr>
        <p:spPr>
          <a:xfrm>
            <a:off x="11557000" y="393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автентикация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49000" y="4445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Имплементация на система за удостоверяване с JSON Web Tokens и bcrypt хеширане.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286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39812" y="6477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90500" y="81335"/>
                </a:moveTo>
                <a:lnTo>
                  <a:pt x="190500" y="238125"/>
                </a:lnTo>
                <a:cubicBezTo>
                  <a:pt x="190500" y="251296"/>
                  <a:pt x="179859" y="261938"/>
                  <a:pt x="166688" y="261938"/>
                </a:cubicBezTo>
                <a:cubicBezTo>
                  <a:pt x="153516" y="261938"/>
                  <a:pt x="142875" y="251296"/>
                  <a:pt x="142875" y="238125"/>
                </a:cubicBezTo>
                <a:lnTo>
                  <a:pt x="142875" y="81335"/>
                </a:lnTo>
                <a:lnTo>
                  <a:pt x="112068" y="112142"/>
                </a:lnTo>
                <a:cubicBezTo>
                  <a:pt x="102766" y="121444"/>
                  <a:pt x="87660" y="121444"/>
                  <a:pt x="78358" y="112142"/>
                </a:cubicBezTo>
                <a:cubicBezTo>
                  <a:pt x="69056" y="102840"/>
                  <a:pt x="69056" y="87734"/>
                  <a:pt x="78358" y="78432"/>
                </a:cubicBezTo>
                <a:lnTo>
                  <a:pt x="149796" y="6995"/>
                </a:lnTo>
                <a:cubicBezTo>
                  <a:pt x="159097" y="-2307"/>
                  <a:pt x="174203" y="-2307"/>
                  <a:pt x="183505" y="6995"/>
                </a:cubicBezTo>
                <a:lnTo>
                  <a:pt x="254943" y="78432"/>
                </a:lnTo>
                <a:cubicBezTo>
                  <a:pt x="264244" y="87734"/>
                  <a:pt x="264244" y="102840"/>
                  <a:pt x="254943" y="112142"/>
                </a:cubicBezTo>
                <a:cubicBezTo>
                  <a:pt x="245641" y="121444"/>
                  <a:pt x="230535" y="121444"/>
                  <a:pt x="221233" y="112142"/>
                </a:cubicBezTo>
                <a:lnTo>
                  <a:pt x="190500" y="81335"/>
                </a:lnTo>
                <a:close/>
                <a:moveTo>
                  <a:pt x="166688" y="297656"/>
                </a:moveTo>
                <a:cubicBezTo>
                  <a:pt x="199579" y="297656"/>
                  <a:pt x="226219" y="271016"/>
                  <a:pt x="226219" y="238125"/>
                </a:cubicBezTo>
                <a:lnTo>
                  <a:pt x="285750" y="238125"/>
                </a:lnTo>
                <a:cubicBezTo>
                  <a:pt x="312018" y="238125"/>
                  <a:pt x="333375" y="259482"/>
                  <a:pt x="333375" y="285750"/>
                </a:cubicBezTo>
                <a:lnTo>
                  <a:pt x="333375" y="309563"/>
                </a:lnTo>
                <a:cubicBezTo>
                  <a:pt x="333375" y="335831"/>
                  <a:pt x="312018" y="357188"/>
                  <a:pt x="28575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285750"/>
                </a:lnTo>
                <a:cubicBezTo>
                  <a:pt x="0" y="259482"/>
                  <a:pt x="21357" y="238125"/>
                  <a:pt x="47625" y="238125"/>
                </a:cubicBezTo>
                <a:lnTo>
                  <a:pt x="107156" y="238125"/>
                </a:lnTo>
                <a:cubicBezTo>
                  <a:pt x="107156" y="271016"/>
                  <a:pt x="133796" y="297656"/>
                  <a:pt x="166688" y="297656"/>
                </a:cubicBezTo>
                <a:close/>
                <a:moveTo>
                  <a:pt x="273844" y="315516"/>
                </a:moveTo>
                <a:cubicBezTo>
                  <a:pt x="283701" y="315516"/>
                  <a:pt x="291703" y="307513"/>
                  <a:pt x="291703" y="297656"/>
                </a:cubicBezTo>
                <a:cubicBezTo>
                  <a:pt x="291703" y="287799"/>
                  <a:pt x="283701" y="279797"/>
                  <a:pt x="273844" y="279797"/>
                </a:cubicBezTo>
                <a:cubicBezTo>
                  <a:pt x="263987" y="279797"/>
                  <a:pt x="255984" y="287799"/>
                  <a:pt x="255984" y="297656"/>
                </a:cubicBezTo>
                <a:cubicBezTo>
                  <a:pt x="255984" y="307513"/>
                  <a:pt x="263987" y="315516"/>
                  <a:pt x="273844" y="315516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28" name="Text 26"/>
          <p:cNvSpPr/>
          <p:nvPr/>
        </p:nvSpPr>
        <p:spPr>
          <a:xfrm>
            <a:off x="1524000" y="647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Качване и категоризация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6985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Модули за мулти-файлово качване, валидация и организиране на ресурси.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78500" y="6286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31" name="Shape 29"/>
          <p:cNvSpPr/>
          <p:nvPr/>
        </p:nvSpPr>
        <p:spPr>
          <a:xfrm>
            <a:off x="5984875" y="6477000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238125" y="166688"/>
                </a:moveTo>
                <a:cubicBezTo>
                  <a:pt x="280838" y="166688"/>
                  <a:pt x="315516" y="132010"/>
                  <a:pt x="315516" y="89297"/>
                </a:cubicBezTo>
                <a:cubicBezTo>
                  <a:pt x="315516" y="46584"/>
                  <a:pt x="280838" y="11906"/>
                  <a:pt x="238125" y="11906"/>
                </a:cubicBezTo>
                <a:cubicBezTo>
                  <a:pt x="195412" y="11906"/>
                  <a:pt x="160734" y="46584"/>
                  <a:pt x="160734" y="89297"/>
                </a:cubicBezTo>
                <a:cubicBezTo>
                  <a:pt x="160734" y="132010"/>
                  <a:pt x="195412" y="166688"/>
                  <a:pt x="238125" y="166688"/>
                </a:cubicBezTo>
                <a:close/>
                <a:moveTo>
                  <a:pt x="71438" y="172641"/>
                </a:moveTo>
                <a:cubicBezTo>
                  <a:pt x="101008" y="172641"/>
                  <a:pt x="125016" y="148633"/>
                  <a:pt x="125016" y="119063"/>
                </a:cubicBezTo>
                <a:cubicBezTo>
                  <a:pt x="125016" y="89492"/>
                  <a:pt x="101008" y="65484"/>
                  <a:pt x="71438" y="65484"/>
                </a:cubicBezTo>
                <a:cubicBezTo>
                  <a:pt x="41867" y="65484"/>
                  <a:pt x="17859" y="89492"/>
                  <a:pt x="17859" y="119063"/>
                </a:cubicBezTo>
                <a:cubicBezTo>
                  <a:pt x="17859" y="148633"/>
                  <a:pt x="41867" y="172641"/>
                  <a:pt x="71437" y="172641"/>
                </a:cubicBezTo>
                <a:close/>
                <a:moveTo>
                  <a:pt x="0" y="309563"/>
                </a:moveTo>
                <a:lnTo>
                  <a:pt x="0" y="333375"/>
                </a:lnTo>
                <a:cubicBezTo>
                  <a:pt x="0" y="346546"/>
                  <a:pt x="10641" y="357188"/>
                  <a:pt x="23812" y="357188"/>
                </a:cubicBezTo>
                <a:lnTo>
                  <a:pt x="88329" y="357188"/>
                </a:lnTo>
                <a:cubicBezTo>
                  <a:pt x="85130" y="349895"/>
                  <a:pt x="83344" y="341858"/>
                  <a:pt x="83344" y="333375"/>
                </a:cubicBezTo>
                <a:lnTo>
                  <a:pt x="83344" y="321469"/>
                </a:lnTo>
                <a:cubicBezTo>
                  <a:pt x="83344" y="281880"/>
                  <a:pt x="98227" y="245715"/>
                  <a:pt x="122709" y="218331"/>
                </a:cubicBezTo>
                <a:cubicBezTo>
                  <a:pt x="114002" y="215726"/>
                  <a:pt x="104775" y="214313"/>
                  <a:pt x="95250" y="214313"/>
                </a:cubicBezTo>
                <a:cubicBezTo>
                  <a:pt x="42639" y="214313"/>
                  <a:pt x="0" y="256952"/>
                  <a:pt x="0" y="309563"/>
                </a:cubicBezTo>
                <a:close/>
                <a:moveTo>
                  <a:pt x="458391" y="119063"/>
                </a:moveTo>
                <a:cubicBezTo>
                  <a:pt x="458391" y="89492"/>
                  <a:pt x="434383" y="65484"/>
                  <a:pt x="404813" y="65484"/>
                </a:cubicBezTo>
                <a:cubicBezTo>
                  <a:pt x="375242" y="65484"/>
                  <a:pt x="351234" y="89492"/>
                  <a:pt x="351234" y="119063"/>
                </a:cubicBezTo>
                <a:cubicBezTo>
                  <a:pt x="351234" y="148633"/>
                  <a:pt x="375242" y="172641"/>
                  <a:pt x="404813" y="172641"/>
                </a:cubicBezTo>
                <a:cubicBezTo>
                  <a:pt x="434383" y="172641"/>
                  <a:pt x="458391" y="148633"/>
                  <a:pt x="458391" y="119063"/>
                </a:cubicBezTo>
                <a:close/>
                <a:moveTo>
                  <a:pt x="119063" y="321469"/>
                </a:moveTo>
                <a:lnTo>
                  <a:pt x="119063" y="333375"/>
                </a:lnTo>
                <a:cubicBezTo>
                  <a:pt x="119063" y="346546"/>
                  <a:pt x="129704" y="357188"/>
                  <a:pt x="142875" y="357188"/>
                </a:cubicBezTo>
                <a:lnTo>
                  <a:pt x="259556" y="357188"/>
                </a:lnTo>
                <a:cubicBezTo>
                  <a:pt x="254273" y="341114"/>
                  <a:pt x="254868" y="324148"/>
                  <a:pt x="267519" y="309563"/>
                </a:cubicBezTo>
                <a:cubicBezTo>
                  <a:pt x="257101" y="297507"/>
                  <a:pt x="252264" y="280020"/>
                  <a:pt x="259035" y="262458"/>
                </a:cubicBezTo>
                <a:cubicBezTo>
                  <a:pt x="263947" y="249734"/>
                  <a:pt x="270867" y="237827"/>
                  <a:pt x="279425" y="227261"/>
                </a:cubicBezTo>
                <a:cubicBezTo>
                  <a:pt x="283443" y="222349"/>
                  <a:pt x="288057" y="218554"/>
                  <a:pt x="293043" y="215801"/>
                </a:cubicBezTo>
                <a:cubicBezTo>
                  <a:pt x="276597" y="207243"/>
                  <a:pt x="257919" y="202406"/>
                  <a:pt x="238125" y="202406"/>
                </a:cubicBezTo>
                <a:cubicBezTo>
                  <a:pt x="172343" y="202406"/>
                  <a:pt x="119063" y="255687"/>
                  <a:pt x="119063" y="321469"/>
                </a:cubicBezTo>
                <a:close/>
                <a:moveTo>
                  <a:pt x="464790" y="288652"/>
                </a:moveTo>
                <a:cubicBezTo>
                  <a:pt x="469478" y="285973"/>
                  <a:pt x="471860" y="280392"/>
                  <a:pt x="469850" y="275258"/>
                </a:cubicBezTo>
                <a:cubicBezTo>
                  <a:pt x="466279" y="266030"/>
                  <a:pt x="461293" y="257324"/>
                  <a:pt x="455042" y="249659"/>
                </a:cubicBezTo>
                <a:cubicBezTo>
                  <a:pt x="451619" y="245418"/>
                  <a:pt x="445591" y="244673"/>
                  <a:pt x="440903" y="247427"/>
                </a:cubicBezTo>
                <a:cubicBezTo>
                  <a:pt x="424681" y="256803"/>
                  <a:pt x="404738" y="245343"/>
                  <a:pt x="404738" y="226516"/>
                </a:cubicBezTo>
                <a:cubicBezTo>
                  <a:pt x="404738" y="221084"/>
                  <a:pt x="401092" y="216247"/>
                  <a:pt x="395734" y="215429"/>
                </a:cubicBezTo>
                <a:cubicBezTo>
                  <a:pt x="386135" y="213940"/>
                  <a:pt x="375791" y="213940"/>
                  <a:pt x="366192" y="215429"/>
                </a:cubicBezTo>
                <a:cubicBezTo>
                  <a:pt x="360834" y="216247"/>
                  <a:pt x="357187" y="221084"/>
                  <a:pt x="357187" y="226516"/>
                </a:cubicBezTo>
                <a:cubicBezTo>
                  <a:pt x="357187" y="245269"/>
                  <a:pt x="337245" y="256803"/>
                  <a:pt x="321022" y="247427"/>
                </a:cubicBezTo>
                <a:cubicBezTo>
                  <a:pt x="316334" y="244748"/>
                  <a:pt x="310307" y="245492"/>
                  <a:pt x="306884" y="249659"/>
                </a:cubicBezTo>
                <a:cubicBezTo>
                  <a:pt x="300633" y="257324"/>
                  <a:pt x="295647" y="266030"/>
                  <a:pt x="292075" y="275258"/>
                </a:cubicBezTo>
                <a:cubicBezTo>
                  <a:pt x="290140" y="280318"/>
                  <a:pt x="292447" y="285899"/>
                  <a:pt x="297135" y="288578"/>
                </a:cubicBezTo>
                <a:cubicBezTo>
                  <a:pt x="313432" y="297954"/>
                  <a:pt x="313432" y="320948"/>
                  <a:pt x="297135" y="330398"/>
                </a:cubicBezTo>
                <a:cubicBezTo>
                  <a:pt x="292447" y="333077"/>
                  <a:pt x="290066" y="338658"/>
                  <a:pt x="292075" y="343719"/>
                </a:cubicBezTo>
                <a:cubicBezTo>
                  <a:pt x="295647" y="352946"/>
                  <a:pt x="300633" y="361652"/>
                  <a:pt x="306884" y="369317"/>
                </a:cubicBezTo>
                <a:cubicBezTo>
                  <a:pt x="310307" y="373559"/>
                  <a:pt x="316334" y="374303"/>
                  <a:pt x="321022" y="371549"/>
                </a:cubicBezTo>
                <a:cubicBezTo>
                  <a:pt x="337245" y="362173"/>
                  <a:pt x="357187" y="373707"/>
                  <a:pt x="357187" y="392460"/>
                </a:cubicBezTo>
                <a:cubicBezTo>
                  <a:pt x="357187" y="397892"/>
                  <a:pt x="360834" y="402729"/>
                  <a:pt x="366192" y="403547"/>
                </a:cubicBezTo>
                <a:cubicBezTo>
                  <a:pt x="375791" y="405036"/>
                  <a:pt x="386135" y="405036"/>
                  <a:pt x="395734" y="403547"/>
                </a:cubicBezTo>
                <a:cubicBezTo>
                  <a:pt x="401092" y="402729"/>
                  <a:pt x="404738" y="397892"/>
                  <a:pt x="404738" y="392460"/>
                </a:cubicBezTo>
                <a:cubicBezTo>
                  <a:pt x="404738" y="373707"/>
                  <a:pt x="424681" y="362173"/>
                  <a:pt x="440903" y="371549"/>
                </a:cubicBezTo>
                <a:cubicBezTo>
                  <a:pt x="445591" y="374228"/>
                  <a:pt x="451619" y="373484"/>
                  <a:pt x="455042" y="369317"/>
                </a:cubicBezTo>
                <a:cubicBezTo>
                  <a:pt x="461293" y="361652"/>
                  <a:pt x="466279" y="352946"/>
                  <a:pt x="469850" y="343719"/>
                </a:cubicBezTo>
                <a:cubicBezTo>
                  <a:pt x="471785" y="338658"/>
                  <a:pt x="469478" y="333077"/>
                  <a:pt x="464790" y="330398"/>
                </a:cubicBezTo>
                <a:cubicBezTo>
                  <a:pt x="448494" y="321022"/>
                  <a:pt x="448494" y="298028"/>
                  <a:pt x="464790" y="288578"/>
                </a:cubicBezTo>
                <a:close/>
                <a:moveTo>
                  <a:pt x="351234" y="309563"/>
                </a:moveTo>
                <a:cubicBezTo>
                  <a:pt x="351234" y="293134"/>
                  <a:pt x="364572" y="279797"/>
                  <a:pt x="381000" y="279797"/>
                </a:cubicBezTo>
                <a:cubicBezTo>
                  <a:pt x="397428" y="279797"/>
                  <a:pt x="410766" y="293134"/>
                  <a:pt x="410766" y="309563"/>
                </a:cubicBezTo>
                <a:cubicBezTo>
                  <a:pt x="410766" y="325991"/>
                  <a:pt x="397428" y="339328"/>
                  <a:pt x="381000" y="339328"/>
                </a:cubicBezTo>
                <a:cubicBezTo>
                  <a:pt x="364572" y="339328"/>
                  <a:pt x="351234" y="325991"/>
                  <a:pt x="351234" y="309563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32" name="Text 30"/>
          <p:cNvSpPr/>
          <p:nvPr/>
        </p:nvSpPr>
        <p:spPr>
          <a:xfrm>
            <a:off x="6540500" y="647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RBAC контрол на достъпа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32500" y="69850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Защита срещу неоторизиран достъп с ролеви модел — Admin, Teacher, Student.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795000" y="6286500"/>
            <a:ext cx="4699000" cy="2222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35" name="Shape 33"/>
          <p:cNvSpPr/>
          <p:nvPr/>
        </p:nvSpPr>
        <p:spPr>
          <a:xfrm>
            <a:off x="11049000" y="647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261938"/>
                </a:lnTo>
                <a:cubicBezTo>
                  <a:pt x="0" y="288206"/>
                  <a:pt x="21357" y="309563"/>
                  <a:pt x="47625" y="309563"/>
                </a:cubicBezTo>
                <a:lnTo>
                  <a:pt x="154781" y="309563"/>
                </a:lnTo>
                <a:lnTo>
                  <a:pt x="142875" y="345281"/>
                </a:lnTo>
                <a:lnTo>
                  <a:pt x="89297" y="345281"/>
                </a:lnTo>
                <a:cubicBezTo>
                  <a:pt x="79400" y="345281"/>
                  <a:pt x="71438" y="353244"/>
                  <a:pt x="71438" y="363141"/>
                </a:cubicBezTo>
                <a:cubicBezTo>
                  <a:pt x="71438" y="373038"/>
                  <a:pt x="79400" y="381000"/>
                  <a:pt x="89297" y="381000"/>
                </a:cubicBezTo>
                <a:lnTo>
                  <a:pt x="291703" y="381000"/>
                </a:lnTo>
                <a:cubicBezTo>
                  <a:pt x="301600" y="381000"/>
                  <a:pt x="309563" y="373038"/>
                  <a:pt x="309563" y="363141"/>
                </a:cubicBezTo>
                <a:cubicBezTo>
                  <a:pt x="309563" y="353244"/>
                  <a:pt x="301600" y="345281"/>
                  <a:pt x="291703" y="345281"/>
                </a:cubicBezTo>
                <a:lnTo>
                  <a:pt x="238125" y="345281"/>
                </a:lnTo>
                <a:lnTo>
                  <a:pt x="226219" y="309563"/>
                </a:lnTo>
                <a:lnTo>
                  <a:pt x="333375" y="309563"/>
                </a:lnTo>
                <a:cubicBezTo>
                  <a:pt x="359643" y="309563"/>
                  <a:pt x="381000" y="288206"/>
                  <a:pt x="381000" y="261938"/>
                </a:cubicBezTo>
                <a:lnTo>
                  <a:pt x="381000" y="71438"/>
                </a:lnTo>
                <a:cubicBezTo>
                  <a:pt x="381000" y="45169"/>
                  <a:pt x="359643" y="23812"/>
                  <a:pt x="333375" y="23812"/>
                </a:cubicBezTo>
                <a:lnTo>
                  <a:pt x="47625" y="23812"/>
                </a:lnTo>
                <a:close/>
                <a:moveTo>
                  <a:pt x="71438" y="71438"/>
                </a:moveTo>
                <a:lnTo>
                  <a:pt x="309563" y="71438"/>
                </a:lnTo>
                <a:cubicBezTo>
                  <a:pt x="322734" y="71438"/>
                  <a:pt x="333375" y="82079"/>
                  <a:pt x="333375" y="95250"/>
                </a:cubicBezTo>
                <a:lnTo>
                  <a:pt x="333375" y="214313"/>
                </a:lnTo>
                <a:cubicBezTo>
                  <a:pt x="333375" y="227484"/>
                  <a:pt x="322734" y="238125"/>
                  <a:pt x="309563" y="238125"/>
                </a:cubicBezTo>
                <a:lnTo>
                  <a:pt x="71438" y="238125"/>
                </a:lnTo>
                <a:cubicBezTo>
                  <a:pt x="58266" y="238125"/>
                  <a:pt x="47625" y="227484"/>
                  <a:pt x="47625" y="214313"/>
                </a:cubicBezTo>
                <a:lnTo>
                  <a:pt x="47625" y="95250"/>
                </a:lnTo>
                <a:cubicBezTo>
                  <a:pt x="47625" y="82079"/>
                  <a:pt x="58266" y="71438"/>
                  <a:pt x="71438" y="71438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36" name="Text 34"/>
          <p:cNvSpPr/>
          <p:nvPr/>
        </p:nvSpPr>
        <p:spPr>
          <a:xfrm>
            <a:off x="11557000" y="6477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Интуитивен UI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49000" y="69850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Адаптивен потребителски интерфейс с React за всички устройства.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5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C47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270000" cy="508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Технологии и архитектура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Технологичен стек, системна архитектура и база данни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479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5F3F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Въведение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0" y="50800"/>
            <a:ext cx="38608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Технологии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Реализация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412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Бъдеще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Избор на технологии — Защо именно те?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524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3440" y="158234"/>
                </a:moveTo>
                <a:cubicBezTo>
                  <a:pt x="368618" y="156627"/>
                  <a:pt x="363795" y="155109"/>
                  <a:pt x="358973" y="153680"/>
                </a:cubicBezTo>
                <a:cubicBezTo>
                  <a:pt x="359777" y="150376"/>
                  <a:pt x="360491" y="147072"/>
                  <a:pt x="361206" y="143768"/>
                </a:cubicBezTo>
                <a:cubicBezTo>
                  <a:pt x="372189" y="90547"/>
                  <a:pt x="364956" y="47774"/>
                  <a:pt x="340578" y="33665"/>
                </a:cubicBezTo>
                <a:cubicBezTo>
                  <a:pt x="317093" y="20181"/>
                  <a:pt x="278785" y="34201"/>
                  <a:pt x="240030" y="67955"/>
                </a:cubicBezTo>
                <a:cubicBezTo>
                  <a:pt x="236190" y="71259"/>
                  <a:pt x="232440" y="74741"/>
                  <a:pt x="228868" y="78224"/>
                </a:cubicBezTo>
                <a:cubicBezTo>
                  <a:pt x="226457" y="75902"/>
                  <a:pt x="223957" y="73581"/>
                  <a:pt x="221456" y="71348"/>
                </a:cubicBezTo>
                <a:cubicBezTo>
                  <a:pt x="180826" y="35272"/>
                  <a:pt x="140107" y="20092"/>
                  <a:pt x="115729" y="34290"/>
                </a:cubicBezTo>
                <a:cubicBezTo>
                  <a:pt x="92333" y="47863"/>
                  <a:pt x="85368" y="88136"/>
                  <a:pt x="95190" y="138499"/>
                </a:cubicBezTo>
                <a:cubicBezTo>
                  <a:pt x="96173" y="143500"/>
                  <a:pt x="97244" y="148411"/>
                  <a:pt x="98494" y="153412"/>
                </a:cubicBezTo>
                <a:cubicBezTo>
                  <a:pt x="92779" y="155019"/>
                  <a:pt x="87154" y="156805"/>
                  <a:pt x="81885" y="158681"/>
                </a:cubicBezTo>
                <a:cubicBezTo>
                  <a:pt x="34201" y="175200"/>
                  <a:pt x="0" y="201275"/>
                  <a:pt x="0" y="228243"/>
                </a:cubicBezTo>
                <a:cubicBezTo>
                  <a:pt x="0" y="256103"/>
                  <a:pt x="36433" y="284053"/>
                  <a:pt x="85993" y="301020"/>
                </a:cubicBezTo>
                <a:cubicBezTo>
                  <a:pt x="90011" y="302359"/>
                  <a:pt x="94030" y="303699"/>
                  <a:pt x="98137" y="304860"/>
                </a:cubicBezTo>
                <a:cubicBezTo>
                  <a:pt x="96798" y="310217"/>
                  <a:pt x="95637" y="315486"/>
                  <a:pt x="94565" y="320933"/>
                </a:cubicBezTo>
                <a:cubicBezTo>
                  <a:pt x="85189" y="370493"/>
                  <a:pt x="92512" y="409783"/>
                  <a:pt x="115907" y="423267"/>
                </a:cubicBezTo>
                <a:cubicBezTo>
                  <a:pt x="140017" y="437198"/>
                  <a:pt x="180558" y="422910"/>
                  <a:pt x="220027" y="388352"/>
                </a:cubicBezTo>
                <a:cubicBezTo>
                  <a:pt x="223153" y="385584"/>
                  <a:pt x="226278" y="382726"/>
                  <a:pt x="229404" y="379690"/>
                </a:cubicBezTo>
                <a:cubicBezTo>
                  <a:pt x="233333" y="383530"/>
                  <a:pt x="237440" y="387191"/>
                  <a:pt x="241548" y="390763"/>
                </a:cubicBezTo>
                <a:cubicBezTo>
                  <a:pt x="279767" y="423624"/>
                  <a:pt x="317540" y="436930"/>
                  <a:pt x="340846" y="423446"/>
                </a:cubicBezTo>
                <a:cubicBezTo>
                  <a:pt x="364956" y="409515"/>
                  <a:pt x="372814" y="367278"/>
                  <a:pt x="362635" y="315843"/>
                </a:cubicBezTo>
                <a:cubicBezTo>
                  <a:pt x="361831" y="311914"/>
                  <a:pt x="360938" y="307896"/>
                  <a:pt x="359956" y="303788"/>
                </a:cubicBezTo>
                <a:cubicBezTo>
                  <a:pt x="362813" y="302984"/>
                  <a:pt x="365581" y="302091"/>
                  <a:pt x="368350" y="301198"/>
                </a:cubicBezTo>
                <a:cubicBezTo>
                  <a:pt x="419874" y="284143"/>
                  <a:pt x="457200" y="256550"/>
                  <a:pt x="457200" y="228243"/>
                </a:cubicBezTo>
                <a:cubicBezTo>
                  <a:pt x="457200" y="201186"/>
                  <a:pt x="422017" y="174933"/>
                  <a:pt x="373440" y="158234"/>
                </a:cubicBezTo>
                <a:close/>
                <a:moveTo>
                  <a:pt x="252621" y="82421"/>
                </a:moveTo>
                <a:cubicBezTo>
                  <a:pt x="285839" y="53489"/>
                  <a:pt x="316825" y="42148"/>
                  <a:pt x="330934" y="50274"/>
                </a:cubicBezTo>
                <a:cubicBezTo>
                  <a:pt x="346025" y="58936"/>
                  <a:pt x="351830" y="93940"/>
                  <a:pt x="342364" y="139928"/>
                </a:cubicBezTo>
                <a:cubicBezTo>
                  <a:pt x="341739" y="142964"/>
                  <a:pt x="341114" y="145911"/>
                  <a:pt x="340310" y="148858"/>
                </a:cubicBezTo>
                <a:cubicBezTo>
                  <a:pt x="320486" y="144393"/>
                  <a:pt x="300395" y="141178"/>
                  <a:pt x="280214" y="139392"/>
                </a:cubicBezTo>
                <a:cubicBezTo>
                  <a:pt x="268605" y="122783"/>
                  <a:pt x="255925" y="106888"/>
                  <a:pt x="242173" y="91976"/>
                </a:cubicBezTo>
                <a:cubicBezTo>
                  <a:pt x="245656" y="88672"/>
                  <a:pt x="249049" y="85546"/>
                  <a:pt x="252621" y="82421"/>
                </a:cubicBezTo>
                <a:close/>
                <a:moveTo>
                  <a:pt x="149304" y="274588"/>
                </a:moveTo>
                <a:cubicBezTo>
                  <a:pt x="153859" y="282357"/>
                  <a:pt x="158502" y="290126"/>
                  <a:pt x="163413" y="297716"/>
                </a:cubicBezTo>
                <a:cubicBezTo>
                  <a:pt x="149483" y="296198"/>
                  <a:pt x="135642" y="293965"/>
                  <a:pt x="121980" y="291019"/>
                </a:cubicBezTo>
                <a:cubicBezTo>
                  <a:pt x="125909" y="278160"/>
                  <a:pt x="130820" y="264855"/>
                  <a:pt x="136535" y="251281"/>
                </a:cubicBezTo>
                <a:cubicBezTo>
                  <a:pt x="140643" y="259140"/>
                  <a:pt x="144840" y="266908"/>
                  <a:pt x="149304" y="274588"/>
                </a:cubicBezTo>
                <a:close/>
                <a:moveTo>
                  <a:pt x="122247" y="167164"/>
                </a:moveTo>
                <a:cubicBezTo>
                  <a:pt x="135106" y="164306"/>
                  <a:pt x="148769" y="161985"/>
                  <a:pt x="162967" y="160199"/>
                </a:cubicBezTo>
                <a:cubicBezTo>
                  <a:pt x="158234" y="167610"/>
                  <a:pt x="153591" y="175200"/>
                  <a:pt x="149215" y="182880"/>
                </a:cubicBezTo>
                <a:cubicBezTo>
                  <a:pt x="144840" y="190470"/>
                  <a:pt x="140553" y="198239"/>
                  <a:pt x="136535" y="206097"/>
                </a:cubicBezTo>
                <a:cubicBezTo>
                  <a:pt x="130909" y="192792"/>
                  <a:pt x="126176" y="179755"/>
                  <a:pt x="122247" y="167164"/>
                </a:cubicBezTo>
                <a:close/>
                <a:moveTo>
                  <a:pt x="146715" y="228689"/>
                </a:moveTo>
                <a:cubicBezTo>
                  <a:pt x="152608" y="216366"/>
                  <a:pt x="159038" y="204311"/>
                  <a:pt x="165824" y="192435"/>
                </a:cubicBezTo>
                <a:cubicBezTo>
                  <a:pt x="172611" y="180558"/>
                  <a:pt x="179933" y="169039"/>
                  <a:pt x="187613" y="157698"/>
                </a:cubicBezTo>
                <a:cubicBezTo>
                  <a:pt x="201007" y="156716"/>
                  <a:pt x="214670" y="156180"/>
                  <a:pt x="228600" y="156180"/>
                </a:cubicBezTo>
                <a:cubicBezTo>
                  <a:pt x="242530" y="156180"/>
                  <a:pt x="256282" y="156716"/>
                  <a:pt x="269587" y="157698"/>
                </a:cubicBezTo>
                <a:cubicBezTo>
                  <a:pt x="277178" y="168950"/>
                  <a:pt x="284411" y="180469"/>
                  <a:pt x="291286" y="192256"/>
                </a:cubicBezTo>
                <a:cubicBezTo>
                  <a:pt x="298162" y="204043"/>
                  <a:pt x="304592" y="216098"/>
                  <a:pt x="310664" y="228332"/>
                </a:cubicBezTo>
                <a:cubicBezTo>
                  <a:pt x="304681" y="240655"/>
                  <a:pt x="298252" y="252799"/>
                  <a:pt x="291376" y="264765"/>
                </a:cubicBezTo>
                <a:cubicBezTo>
                  <a:pt x="284589" y="276642"/>
                  <a:pt x="277356" y="288161"/>
                  <a:pt x="269766" y="299591"/>
                </a:cubicBezTo>
                <a:cubicBezTo>
                  <a:pt x="256461" y="300573"/>
                  <a:pt x="242620" y="301020"/>
                  <a:pt x="228600" y="301020"/>
                </a:cubicBezTo>
                <a:cubicBezTo>
                  <a:pt x="214580" y="301020"/>
                  <a:pt x="201007" y="300573"/>
                  <a:pt x="187881" y="299770"/>
                </a:cubicBezTo>
                <a:cubicBezTo>
                  <a:pt x="180112" y="288429"/>
                  <a:pt x="172789" y="276820"/>
                  <a:pt x="165914" y="264944"/>
                </a:cubicBezTo>
                <a:cubicBezTo>
                  <a:pt x="159038" y="253067"/>
                  <a:pt x="152698" y="241012"/>
                  <a:pt x="146715" y="228689"/>
                </a:cubicBezTo>
                <a:close/>
                <a:moveTo>
                  <a:pt x="307985" y="274409"/>
                </a:moveTo>
                <a:cubicBezTo>
                  <a:pt x="312539" y="266551"/>
                  <a:pt x="316825" y="258604"/>
                  <a:pt x="321022" y="250567"/>
                </a:cubicBezTo>
                <a:cubicBezTo>
                  <a:pt x="326737" y="263515"/>
                  <a:pt x="331738" y="276642"/>
                  <a:pt x="336113" y="290126"/>
                </a:cubicBezTo>
                <a:cubicBezTo>
                  <a:pt x="322272" y="293251"/>
                  <a:pt x="308253" y="295662"/>
                  <a:pt x="294144" y="297269"/>
                </a:cubicBezTo>
                <a:cubicBezTo>
                  <a:pt x="298966" y="289768"/>
                  <a:pt x="303520" y="282089"/>
                  <a:pt x="307985" y="274409"/>
                </a:cubicBezTo>
                <a:close/>
                <a:moveTo>
                  <a:pt x="320844" y="206097"/>
                </a:moveTo>
                <a:cubicBezTo>
                  <a:pt x="316647" y="198239"/>
                  <a:pt x="312360" y="190381"/>
                  <a:pt x="307896" y="182701"/>
                </a:cubicBezTo>
                <a:cubicBezTo>
                  <a:pt x="303520" y="175111"/>
                  <a:pt x="298966" y="167610"/>
                  <a:pt x="294233" y="160199"/>
                </a:cubicBezTo>
                <a:cubicBezTo>
                  <a:pt x="308610" y="161985"/>
                  <a:pt x="322362" y="164396"/>
                  <a:pt x="335220" y="167342"/>
                </a:cubicBezTo>
                <a:cubicBezTo>
                  <a:pt x="331113" y="180558"/>
                  <a:pt x="326291" y="193417"/>
                  <a:pt x="320844" y="206097"/>
                </a:cubicBezTo>
                <a:close/>
                <a:moveTo>
                  <a:pt x="228779" y="105638"/>
                </a:moveTo>
                <a:cubicBezTo>
                  <a:pt x="238155" y="115818"/>
                  <a:pt x="246995" y="126534"/>
                  <a:pt x="255210" y="137606"/>
                </a:cubicBezTo>
                <a:cubicBezTo>
                  <a:pt x="237530" y="136803"/>
                  <a:pt x="219760" y="136803"/>
                  <a:pt x="202079" y="137606"/>
                </a:cubicBezTo>
                <a:cubicBezTo>
                  <a:pt x="210830" y="126087"/>
                  <a:pt x="219849" y="115372"/>
                  <a:pt x="228779" y="105638"/>
                </a:cubicBezTo>
                <a:close/>
                <a:moveTo>
                  <a:pt x="125194" y="50899"/>
                </a:moveTo>
                <a:cubicBezTo>
                  <a:pt x="140196" y="42148"/>
                  <a:pt x="173504" y="54650"/>
                  <a:pt x="208598" y="85725"/>
                </a:cubicBezTo>
                <a:cubicBezTo>
                  <a:pt x="210830" y="87690"/>
                  <a:pt x="213062" y="89833"/>
                  <a:pt x="215384" y="91976"/>
                </a:cubicBezTo>
                <a:cubicBezTo>
                  <a:pt x="201543" y="106888"/>
                  <a:pt x="188774" y="122783"/>
                  <a:pt x="177076" y="139392"/>
                </a:cubicBezTo>
                <a:cubicBezTo>
                  <a:pt x="156895" y="141178"/>
                  <a:pt x="136892" y="144304"/>
                  <a:pt x="117068" y="148679"/>
                </a:cubicBezTo>
                <a:cubicBezTo>
                  <a:pt x="115907" y="144125"/>
                  <a:pt x="114925" y="139482"/>
                  <a:pt x="113943" y="134838"/>
                </a:cubicBezTo>
                <a:cubicBezTo>
                  <a:pt x="105549" y="91619"/>
                  <a:pt x="111085" y="59025"/>
                  <a:pt x="125194" y="50899"/>
                </a:cubicBezTo>
                <a:close/>
                <a:moveTo>
                  <a:pt x="103316" y="286286"/>
                </a:moveTo>
                <a:cubicBezTo>
                  <a:pt x="99566" y="285214"/>
                  <a:pt x="95905" y="284053"/>
                  <a:pt x="92244" y="282803"/>
                </a:cubicBezTo>
                <a:cubicBezTo>
                  <a:pt x="73223" y="276820"/>
                  <a:pt x="51614" y="267355"/>
                  <a:pt x="35987" y="254943"/>
                </a:cubicBezTo>
                <a:cubicBezTo>
                  <a:pt x="26968" y="248692"/>
                  <a:pt x="20895" y="239048"/>
                  <a:pt x="19199" y="228243"/>
                </a:cubicBezTo>
                <a:cubicBezTo>
                  <a:pt x="19199" y="211901"/>
                  <a:pt x="47417" y="191006"/>
                  <a:pt x="88136" y="176808"/>
                </a:cubicBezTo>
                <a:cubicBezTo>
                  <a:pt x="93226" y="175022"/>
                  <a:pt x="98405" y="173415"/>
                  <a:pt x="103584" y="171896"/>
                </a:cubicBezTo>
                <a:cubicBezTo>
                  <a:pt x="109657" y="191274"/>
                  <a:pt x="116979" y="210294"/>
                  <a:pt x="125462" y="228689"/>
                </a:cubicBezTo>
                <a:cubicBezTo>
                  <a:pt x="116890" y="247352"/>
                  <a:pt x="109478" y="266640"/>
                  <a:pt x="103316" y="286286"/>
                </a:cubicBezTo>
                <a:close/>
                <a:moveTo>
                  <a:pt x="207437" y="373797"/>
                </a:moveTo>
                <a:cubicBezTo>
                  <a:pt x="192703" y="387281"/>
                  <a:pt x="175647" y="397996"/>
                  <a:pt x="157073" y="405319"/>
                </a:cubicBezTo>
                <a:cubicBezTo>
                  <a:pt x="147161" y="410051"/>
                  <a:pt x="135731" y="410498"/>
                  <a:pt x="125551" y="406479"/>
                </a:cubicBezTo>
                <a:cubicBezTo>
                  <a:pt x="111353" y="398264"/>
                  <a:pt x="105460" y="366742"/>
                  <a:pt x="113496" y="324326"/>
                </a:cubicBezTo>
                <a:cubicBezTo>
                  <a:pt x="114479" y="319326"/>
                  <a:pt x="115550" y="314325"/>
                  <a:pt x="116800" y="309414"/>
                </a:cubicBezTo>
                <a:cubicBezTo>
                  <a:pt x="136803" y="313700"/>
                  <a:pt x="156984" y="316647"/>
                  <a:pt x="177433" y="318165"/>
                </a:cubicBezTo>
                <a:cubicBezTo>
                  <a:pt x="189220" y="334863"/>
                  <a:pt x="202168" y="350847"/>
                  <a:pt x="216009" y="365849"/>
                </a:cubicBezTo>
                <a:cubicBezTo>
                  <a:pt x="213152" y="368618"/>
                  <a:pt x="210294" y="371296"/>
                  <a:pt x="207437" y="373797"/>
                </a:cubicBezTo>
                <a:close/>
                <a:moveTo>
                  <a:pt x="229314" y="352098"/>
                </a:moveTo>
                <a:cubicBezTo>
                  <a:pt x="220206" y="342275"/>
                  <a:pt x="211098" y="331381"/>
                  <a:pt x="202257" y="319683"/>
                </a:cubicBezTo>
                <a:cubicBezTo>
                  <a:pt x="210830" y="320040"/>
                  <a:pt x="219670" y="320219"/>
                  <a:pt x="228600" y="320219"/>
                </a:cubicBezTo>
                <a:cubicBezTo>
                  <a:pt x="237798" y="320219"/>
                  <a:pt x="246817" y="320040"/>
                  <a:pt x="255746" y="319594"/>
                </a:cubicBezTo>
                <a:cubicBezTo>
                  <a:pt x="247531" y="330934"/>
                  <a:pt x="238691" y="341739"/>
                  <a:pt x="229314" y="352098"/>
                </a:cubicBezTo>
                <a:close/>
                <a:moveTo>
                  <a:pt x="346025" y="378887"/>
                </a:moveTo>
                <a:cubicBezTo>
                  <a:pt x="345222" y="389781"/>
                  <a:pt x="339864" y="399961"/>
                  <a:pt x="331291" y="406837"/>
                </a:cubicBezTo>
                <a:cubicBezTo>
                  <a:pt x="317093" y="415052"/>
                  <a:pt x="286822" y="404336"/>
                  <a:pt x="254139" y="376297"/>
                </a:cubicBezTo>
                <a:cubicBezTo>
                  <a:pt x="250388" y="373082"/>
                  <a:pt x="246638" y="369600"/>
                  <a:pt x="242798" y="366028"/>
                </a:cubicBezTo>
                <a:cubicBezTo>
                  <a:pt x="256461" y="350937"/>
                  <a:pt x="269051" y="334953"/>
                  <a:pt x="280481" y="318165"/>
                </a:cubicBezTo>
                <a:cubicBezTo>
                  <a:pt x="300930" y="316468"/>
                  <a:pt x="321290" y="313343"/>
                  <a:pt x="341382" y="308789"/>
                </a:cubicBezTo>
                <a:cubicBezTo>
                  <a:pt x="342275" y="312450"/>
                  <a:pt x="343079" y="316111"/>
                  <a:pt x="343793" y="319683"/>
                </a:cubicBezTo>
                <a:cubicBezTo>
                  <a:pt x="348169" y="338971"/>
                  <a:pt x="348883" y="359063"/>
                  <a:pt x="346025" y="378887"/>
                </a:cubicBezTo>
                <a:close/>
                <a:moveTo>
                  <a:pt x="362277" y="282893"/>
                </a:moveTo>
                <a:cubicBezTo>
                  <a:pt x="359777" y="283696"/>
                  <a:pt x="357277" y="284500"/>
                  <a:pt x="354687" y="285214"/>
                </a:cubicBezTo>
                <a:cubicBezTo>
                  <a:pt x="348436" y="265748"/>
                  <a:pt x="340757" y="246727"/>
                  <a:pt x="331916" y="228243"/>
                </a:cubicBezTo>
                <a:cubicBezTo>
                  <a:pt x="340489" y="210026"/>
                  <a:pt x="347722" y="191274"/>
                  <a:pt x="353794" y="172075"/>
                </a:cubicBezTo>
                <a:cubicBezTo>
                  <a:pt x="358438" y="173415"/>
                  <a:pt x="362903" y="174843"/>
                  <a:pt x="367189" y="176272"/>
                </a:cubicBezTo>
                <a:cubicBezTo>
                  <a:pt x="408801" y="190560"/>
                  <a:pt x="438001" y="211812"/>
                  <a:pt x="438001" y="228064"/>
                </a:cubicBezTo>
                <a:cubicBezTo>
                  <a:pt x="438001" y="245566"/>
                  <a:pt x="406837" y="268159"/>
                  <a:pt x="362277" y="282893"/>
                </a:cubicBezTo>
                <a:close/>
                <a:moveTo>
                  <a:pt x="228600" y="269498"/>
                </a:moveTo>
                <a:cubicBezTo>
                  <a:pt x="251172" y="269498"/>
                  <a:pt x="269498" y="251172"/>
                  <a:pt x="269498" y="228600"/>
                </a:cubicBezTo>
                <a:cubicBezTo>
                  <a:pt x="269498" y="206028"/>
                  <a:pt x="251172" y="187702"/>
                  <a:pt x="228600" y="187702"/>
                </a:cubicBezTo>
                <a:cubicBezTo>
                  <a:pt x="206028" y="187702"/>
                  <a:pt x="187702" y="206028"/>
                  <a:pt x="187702" y="228600"/>
                </a:cubicBezTo>
                <a:cubicBezTo>
                  <a:pt x="187702" y="251172"/>
                  <a:pt x="206028" y="269498"/>
                  <a:pt x="228600" y="269498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18415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4130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библиотека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794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DOM за мигновени обновления. Компонентно-ориентиран подход с преизползваеми части. React Router за клиентска навигация и Hooks за управление на състояния.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15875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6" name="Shape 14"/>
          <p:cNvSpPr/>
          <p:nvPr/>
        </p:nvSpPr>
        <p:spPr>
          <a:xfrm>
            <a:off x="6061075" y="1841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471" y="453628"/>
                </a:moveTo>
                <a:cubicBezTo>
                  <a:pt x="194489" y="453628"/>
                  <a:pt x="188416" y="452021"/>
                  <a:pt x="183148" y="448985"/>
                </a:cubicBezTo>
                <a:lnTo>
                  <a:pt x="128052" y="416391"/>
                </a:lnTo>
                <a:cubicBezTo>
                  <a:pt x="119836" y="411748"/>
                  <a:pt x="123855" y="410141"/>
                  <a:pt x="126534" y="409248"/>
                </a:cubicBezTo>
                <a:cubicBezTo>
                  <a:pt x="137517" y="405408"/>
                  <a:pt x="139750" y="404604"/>
                  <a:pt x="151448" y="397907"/>
                </a:cubicBezTo>
                <a:cubicBezTo>
                  <a:pt x="152698" y="397193"/>
                  <a:pt x="154305" y="397460"/>
                  <a:pt x="155555" y="398264"/>
                </a:cubicBezTo>
                <a:lnTo>
                  <a:pt x="197882" y="423356"/>
                </a:lnTo>
                <a:cubicBezTo>
                  <a:pt x="199400" y="424249"/>
                  <a:pt x="201543" y="424249"/>
                  <a:pt x="202972" y="423356"/>
                </a:cubicBezTo>
                <a:lnTo>
                  <a:pt x="367903" y="328166"/>
                </a:lnTo>
                <a:cubicBezTo>
                  <a:pt x="369421" y="327273"/>
                  <a:pt x="370403" y="325487"/>
                  <a:pt x="370403" y="323701"/>
                </a:cubicBezTo>
                <a:lnTo>
                  <a:pt x="370403" y="133320"/>
                </a:lnTo>
                <a:cubicBezTo>
                  <a:pt x="370403" y="131445"/>
                  <a:pt x="369421" y="129748"/>
                  <a:pt x="367814" y="128766"/>
                </a:cubicBezTo>
                <a:lnTo>
                  <a:pt x="202972" y="33665"/>
                </a:lnTo>
                <a:cubicBezTo>
                  <a:pt x="201454" y="32772"/>
                  <a:pt x="199400" y="32772"/>
                  <a:pt x="197882" y="33665"/>
                </a:cubicBezTo>
                <a:lnTo>
                  <a:pt x="33129" y="128855"/>
                </a:lnTo>
                <a:cubicBezTo>
                  <a:pt x="31522" y="129748"/>
                  <a:pt x="30540" y="131534"/>
                  <a:pt x="30540" y="133410"/>
                </a:cubicBezTo>
                <a:lnTo>
                  <a:pt x="30540" y="323701"/>
                </a:lnTo>
                <a:cubicBezTo>
                  <a:pt x="30540" y="325487"/>
                  <a:pt x="31522" y="327273"/>
                  <a:pt x="33129" y="328077"/>
                </a:cubicBezTo>
                <a:lnTo>
                  <a:pt x="78313" y="354151"/>
                </a:lnTo>
                <a:cubicBezTo>
                  <a:pt x="102870" y="366385"/>
                  <a:pt x="117872" y="352008"/>
                  <a:pt x="117872" y="337453"/>
                </a:cubicBezTo>
                <a:lnTo>
                  <a:pt x="117872" y="149572"/>
                </a:lnTo>
                <a:cubicBezTo>
                  <a:pt x="117872" y="146893"/>
                  <a:pt x="120015" y="144840"/>
                  <a:pt x="122694" y="144840"/>
                </a:cubicBezTo>
                <a:lnTo>
                  <a:pt x="143589" y="144840"/>
                </a:lnTo>
                <a:cubicBezTo>
                  <a:pt x="146179" y="144840"/>
                  <a:pt x="148411" y="146893"/>
                  <a:pt x="148411" y="149572"/>
                </a:cubicBezTo>
                <a:lnTo>
                  <a:pt x="148411" y="337542"/>
                </a:lnTo>
                <a:cubicBezTo>
                  <a:pt x="148411" y="370225"/>
                  <a:pt x="130552" y="388977"/>
                  <a:pt x="99566" y="388977"/>
                </a:cubicBezTo>
                <a:cubicBezTo>
                  <a:pt x="90011" y="388977"/>
                  <a:pt x="82510" y="388977"/>
                  <a:pt x="61615" y="378619"/>
                </a:cubicBezTo>
                <a:lnTo>
                  <a:pt x="18395" y="353705"/>
                </a:lnTo>
                <a:cubicBezTo>
                  <a:pt x="7680" y="347543"/>
                  <a:pt x="1072" y="336024"/>
                  <a:pt x="1072" y="323612"/>
                </a:cubicBezTo>
                <a:lnTo>
                  <a:pt x="1072" y="133320"/>
                </a:lnTo>
                <a:cubicBezTo>
                  <a:pt x="1072" y="120997"/>
                  <a:pt x="7680" y="109389"/>
                  <a:pt x="18395" y="103227"/>
                </a:cubicBezTo>
                <a:lnTo>
                  <a:pt x="183148" y="8037"/>
                </a:lnTo>
                <a:cubicBezTo>
                  <a:pt x="193596" y="2143"/>
                  <a:pt x="207437" y="2143"/>
                  <a:pt x="217795" y="8037"/>
                </a:cubicBezTo>
                <a:lnTo>
                  <a:pt x="382726" y="103316"/>
                </a:lnTo>
                <a:cubicBezTo>
                  <a:pt x="393442" y="109478"/>
                  <a:pt x="400050" y="120997"/>
                  <a:pt x="400050" y="133410"/>
                </a:cubicBezTo>
                <a:lnTo>
                  <a:pt x="400050" y="323701"/>
                </a:lnTo>
                <a:cubicBezTo>
                  <a:pt x="400050" y="336024"/>
                  <a:pt x="393442" y="347543"/>
                  <a:pt x="382726" y="353794"/>
                </a:cubicBezTo>
                <a:lnTo>
                  <a:pt x="217795" y="448985"/>
                </a:lnTo>
                <a:cubicBezTo>
                  <a:pt x="212527" y="452021"/>
                  <a:pt x="206544" y="453628"/>
                  <a:pt x="200471" y="453628"/>
                </a:cubicBezTo>
                <a:close/>
                <a:moveTo>
                  <a:pt x="333613" y="266015"/>
                </a:moveTo>
                <a:cubicBezTo>
                  <a:pt x="333613" y="230386"/>
                  <a:pt x="309503" y="220920"/>
                  <a:pt x="258872" y="214223"/>
                </a:cubicBezTo>
                <a:cubicBezTo>
                  <a:pt x="207615" y="207437"/>
                  <a:pt x="202436" y="203954"/>
                  <a:pt x="202436" y="191988"/>
                </a:cubicBezTo>
                <a:cubicBezTo>
                  <a:pt x="202436" y="182076"/>
                  <a:pt x="206812" y="168860"/>
                  <a:pt x="244763" y="168860"/>
                </a:cubicBezTo>
                <a:cubicBezTo>
                  <a:pt x="278606" y="168860"/>
                  <a:pt x="291108" y="176183"/>
                  <a:pt x="296287" y="199043"/>
                </a:cubicBezTo>
                <a:cubicBezTo>
                  <a:pt x="296734" y="201186"/>
                  <a:pt x="298698" y="202793"/>
                  <a:pt x="300930" y="202793"/>
                </a:cubicBezTo>
                <a:lnTo>
                  <a:pt x="322362" y="202793"/>
                </a:lnTo>
                <a:cubicBezTo>
                  <a:pt x="323701" y="202793"/>
                  <a:pt x="324951" y="202257"/>
                  <a:pt x="325844" y="201275"/>
                </a:cubicBezTo>
                <a:cubicBezTo>
                  <a:pt x="326737" y="200293"/>
                  <a:pt x="327184" y="198953"/>
                  <a:pt x="327094" y="197614"/>
                </a:cubicBezTo>
                <a:cubicBezTo>
                  <a:pt x="323790" y="158234"/>
                  <a:pt x="297626" y="139928"/>
                  <a:pt x="244763" y="139928"/>
                </a:cubicBezTo>
                <a:cubicBezTo>
                  <a:pt x="197703" y="139928"/>
                  <a:pt x="169664" y="159752"/>
                  <a:pt x="169664" y="193060"/>
                </a:cubicBezTo>
                <a:cubicBezTo>
                  <a:pt x="169664" y="229136"/>
                  <a:pt x="197614" y="239137"/>
                  <a:pt x="242709" y="243602"/>
                </a:cubicBezTo>
                <a:cubicBezTo>
                  <a:pt x="296734" y="248870"/>
                  <a:pt x="300930" y="256818"/>
                  <a:pt x="300930" y="267444"/>
                </a:cubicBezTo>
                <a:cubicBezTo>
                  <a:pt x="300930" y="285839"/>
                  <a:pt x="286107" y="293697"/>
                  <a:pt x="251371" y="293697"/>
                </a:cubicBezTo>
                <a:cubicBezTo>
                  <a:pt x="207705" y="293697"/>
                  <a:pt x="198150" y="282714"/>
                  <a:pt x="194935" y="261015"/>
                </a:cubicBezTo>
                <a:cubicBezTo>
                  <a:pt x="194578" y="258693"/>
                  <a:pt x="192613" y="256996"/>
                  <a:pt x="190202" y="256996"/>
                </a:cubicBezTo>
                <a:lnTo>
                  <a:pt x="168860" y="256996"/>
                </a:lnTo>
                <a:cubicBezTo>
                  <a:pt x="166181" y="256996"/>
                  <a:pt x="164128" y="259140"/>
                  <a:pt x="164128" y="261729"/>
                </a:cubicBezTo>
                <a:cubicBezTo>
                  <a:pt x="164128" y="289500"/>
                  <a:pt x="179219" y="322630"/>
                  <a:pt x="251460" y="322630"/>
                </a:cubicBezTo>
                <a:cubicBezTo>
                  <a:pt x="303609" y="322540"/>
                  <a:pt x="333613" y="301913"/>
                  <a:pt x="333613" y="266015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17" name="Text 15"/>
          <p:cNvSpPr/>
          <p:nvPr/>
        </p:nvSpPr>
        <p:spPr>
          <a:xfrm>
            <a:off x="6616700" y="18415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0" y="24130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среда и рамка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0" y="2794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Неблокиращ I/O модел с Event Loop за паралелна обработка на стотици заявки. Express middleware архитектура за модулност и сигурност.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15875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77575" y="1841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22" name="Text 20"/>
          <p:cNvSpPr/>
          <p:nvPr/>
        </p:nvSpPr>
        <p:spPr>
          <a:xfrm>
            <a:off x="11633200" y="18415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24130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Релационна база данни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0" y="27940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Zero-configuration, serverless RDBMS. ACID транзакции за цялостност на данните. Лесни миграции и резервни копия в един файл.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207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4575" y="5461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02538" y="-8840"/>
                </a:moveTo>
                <a:cubicBezTo>
                  <a:pt x="313164" y="-1161"/>
                  <a:pt x="317093" y="12769"/>
                  <a:pt x="312271" y="24914"/>
                </a:cubicBezTo>
                <a:lnTo>
                  <a:pt x="242262" y="200025"/>
                </a:lnTo>
                <a:lnTo>
                  <a:pt x="371475" y="200025"/>
                </a:lnTo>
                <a:cubicBezTo>
                  <a:pt x="383530" y="200025"/>
                  <a:pt x="394246" y="207526"/>
                  <a:pt x="398353" y="218867"/>
                </a:cubicBezTo>
                <a:cubicBezTo>
                  <a:pt x="402461" y="230207"/>
                  <a:pt x="398978" y="242888"/>
                  <a:pt x="389781" y="250567"/>
                </a:cubicBezTo>
                <a:lnTo>
                  <a:pt x="132606" y="464880"/>
                </a:lnTo>
                <a:cubicBezTo>
                  <a:pt x="122515" y="473273"/>
                  <a:pt x="108139" y="473720"/>
                  <a:pt x="97512" y="466040"/>
                </a:cubicBezTo>
                <a:cubicBezTo>
                  <a:pt x="86886" y="458361"/>
                  <a:pt x="82957" y="444431"/>
                  <a:pt x="87779" y="432286"/>
                </a:cubicBezTo>
                <a:lnTo>
                  <a:pt x="157788" y="257175"/>
                </a:lnTo>
                <a:lnTo>
                  <a:pt x="28575" y="257175"/>
                </a:lnTo>
                <a:cubicBezTo>
                  <a:pt x="16520" y="257175"/>
                  <a:pt x="5804" y="249674"/>
                  <a:pt x="1697" y="238333"/>
                </a:cubicBezTo>
                <a:cubicBezTo>
                  <a:pt x="-2411" y="226993"/>
                  <a:pt x="1072" y="214312"/>
                  <a:pt x="10269" y="206633"/>
                </a:cubicBezTo>
                <a:lnTo>
                  <a:pt x="267444" y="-7680"/>
                </a:lnTo>
                <a:cubicBezTo>
                  <a:pt x="277535" y="-16073"/>
                  <a:pt x="291911" y="-16520"/>
                  <a:pt x="302538" y="-8840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27" name="Text 25"/>
          <p:cNvSpPr/>
          <p:nvPr/>
        </p:nvSpPr>
        <p:spPr>
          <a:xfrm>
            <a:off x="1600200" y="5461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60325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инструмент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6413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Светкавично HMR по време на разработка. Ефективна пакетизация за продукция. По-бърз от Webpack при стартиране и build.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78500" y="5207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31" name="Shape 29"/>
          <p:cNvSpPr/>
          <p:nvPr/>
        </p:nvSpPr>
        <p:spPr>
          <a:xfrm>
            <a:off x="6089650" y="5461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14300" y="85725"/>
                </a:moveTo>
                <a:lnTo>
                  <a:pt x="114300" y="142875"/>
                </a:lnTo>
                <a:lnTo>
                  <a:pt x="228600" y="142875"/>
                </a:lnTo>
                <a:lnTo>
                  <a:pt x="228600" y="85725"/>
                </a:lnTo>
                <a:cubicBezTo>
                  <a:pt x="228600" y="54203"/>
                  <a:pt x="202972" y="28575"/>
                  <a:pt x="171450" y="28575"/>
                </a:cubicBezTo>
                <a:cubicBezTo>
                  <a:pt x="139928" y="28575"/>
                  <a:pt x="114300" y="54203"/>
                  <a:pt x="114300" y="85725"/>
                </a:cubicBezTo>
                <a:close/>
                <a:moveTo>
                  <a:pt x="57150" y="142875"/>
                </a:moveTo>
                <a:lnTo>
                  <a:pt x="57150" y="85725"/>
                </a:lnTo>
                <a:cubicBezTo>
                  <a:pt x="57150" y="22592"/>
                  <a:pt x="108317" y="-28575"/>
                  <a:pt x="171450" y="-28575"/>
                </a:cubicBezTo>
                <a:cubicBezTo>
                  <a:pt x="234583" y="-28575"/>
                  <a:pt x="285750" y="22592"/>
                  <a:pt x="285750" y="85725"/>
                </a:cubicBezTo>
                <a:lnTo>
                  <a:pt x="285750" y="142875"/>
                </a:lnTo>
                <a:cubicBezTo>
                  <a:pt x="317272" y="142875"/>
                  <a:pt x="342900" y="168503"/>
                  <a:pt x="342900" y="2000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200025"/>
                </a:lnTo>
                <a:cubicBezTo>
                  <a:pt x="0" y="168503"/>
                  <a:pt x="25628" y="142875"/>
                  <a:pt x="57150" y="142875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32" name="Text 30"/>
          <p:cNvSpPr/>
          <p:nvPr/>
        </p:nvSpPr>
        <p:spPr>
          <a:xfrm>
            <a:off x="6616700" y="5461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+ bcrypt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32500" y="60325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Сигурност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32500" y="6413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Stateless автентикация с токени с валидност 1 час. Криптографско хеширане на пароли със сол. Защита на сесиите между заявките.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795000" y="52070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36" name="Shape 34"/>
          <p:cNvSpPr/>
          <p:nvPr/>
        </p:nvSpPr>
        <p:spPr>
          <a:xfrm>
            <a:off x="11020425" y="5461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22183" y="1072"/>
                </a:moveTo>
                <a:cubicBezTo>
                  <a:pt x="307003" y="-3304"/>
                  <a:pt x="291197" y="5536"/>
                  <a:pt x="286822" y="20717"/>
                </a:cubicBezTo>
                <a:lnTo>
                  <a:pt x="172522" y="420767"/>
                </a:lnTo>
                <a:cubicBezTo>
                  <a:pt x="168146" y="435947"/>
                  <a:pt x="176986" y="451753"/>
                  <a:pt x="192167" y="456128"/>
                </a:cubicBezTo>
                <a:cubicBezTo>
                  <a:pt x="207347" y="460504"/>
                  <a:pt x="223153" y="451664"/>
                  <a:pt x="227528" y="436483"/>
                </a:cubicBezTo>
                <a:lnTo>
                  <a:pt x="341828" y="36433"/>
                </a:lnTo>
                <a:cubicBezTo>
                  <a:pt x="346204" y="21253"/>
                  <a:pt x="337364" y="5447"/>
                  <a:pt x="322183" y="1072"/>
                </a:cubicBezTo>
                <a:close/>
                <a:moveTo>
                  <a:pt x="379869" y="122605"/>
                </a:moveTo>
                <a:cubicBezTo>
                  <a:pt x="368707" y="133767"/>
                  <a:pt x="368707" y="151894"/>
                  <a:pt x="379869" y="163056"/>
                </a:cubicBezTo>
                <a:lnTo>
                  <a:pt x="445413" y="228600"/>
                </a:lnTo>
                <a:lnTo>
                  <a:pt x="379869" y="294144"/>
                </a:lnTo>
                <a:cubicBezTo>
                  <a:pt x="368707" y="305306"/>
                  <a:pt x="368707" y="323433"/>
                  <a:pt x="379869" y="334595"/>
                </a:cubicBezTo>
                <a:cubicBezTo>
                  <a:pt x="391031" y="345758"/>
                  <a:pt x="409158" y="345758"/>
                  <a:pt x="420320" y="334595"/>
                </a:cubicBezTo>
                <a:lnTo>
                  <a:pt x="506045" y="248870"/>
                </a:lnTo>
                <a:cubicBezTo>
                  <a:pt x="517208" y="237708"/>
                  <a:pt x="517208" y="219581"/>
                  <a:pt x="506045" y="208419"/>
                </a:cubicBezTo>
                <a:lnTo>
                  <a:pt x="420320" y="122694"/>
                </a:lnTo>
                <a:cubicBezTo>
                  <a:pt x="409158" y="111532"/>
                  <a:pt x="391031" y="111532"/>
                  <a:pt x="379869" y="122694"/>
                </a:cubicBezTo>
                <a:close/>
                <a:moveTo>
                  <a:pt x="134570" y="122605"/>
                </a:moveTo>
                <a:cubicBezTo>
                  <a:pt x="123408" y="111442"/>
                  <a:pt x="105281" y="111442"/>
                  <a:pt x="94119" y="122605"/>
                </a:cubicBezTo>
                <a:lnTo>
                  <a:pt x="8394" y="208330"/>
                </a:lnTo>
                <a:cubicBezTo>
                  <a:pt x="-2768" y="219492"/>
                  <a:pt x="-2768" y="237619"/>
                  <a:pt x="8394" y="248781"/>
                </a:cubicBezTo>
                <a:lnTo>
                  <a:pt x="94119" y="334506"/>
                </a:lnTo>
                <a:cubicBezTo>
                  <a:pt x="105281" y="345668"/>
                  <a:pt x="123408" y="345668"/>
                  <a:pt x="134570" y="334506"/>
                </a:cubicBezTo>
                <a:cubicBezTo>
                  <a:pt x="145733" y="323344"/>
                  <a:pt x="145733" y="305217"/>
                  <a:pt x="134570" y="294055"/>
                </a:cubicBezTo>
                <a:lnTo>
                  <a:pt x="69026" y="228600"/>
                </a:lnTo>
                <a:lnTo>
                  <a:pt x="134481" y="163056"/>
                </a:lnTo>
                <a:cubicBezTo>
                  <a:pt x="145643" y="151894"/>
                  <a:pt x="145643" y="133767"/>
                  <a:pt x="134481" y="122605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37" name="Text 35"/>
          <p:cNvSpPr/>
          <p:nvPr/>
        </p:nvSpPr>
        <p:spPr>
          <a:xfrm>
            <a:off x="11633200" y="5461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Axios + ESLint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49000" y="60325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 клиент и качество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049000" y="6413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Axios с interceptors за автоматично добавяне на JWT токени. ESLint и Prettier за консистентен и качествен код.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5F3F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Въведение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0" y="50800"/>
            <a:ext cx="38608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Технологии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Реализация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412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Бъдеще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Трислойна клиент-сървър архитектура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524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651000"/>
            <a:ext cx="4572000" cy="6604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651000"/>
            <a:ext cx="4572000" cy="635000"/>
          </a:xfrm>
          <a:prstGeom prst="roundRect">
            <a:avLst>
              <a:gd name="adj" fmla="val 6000"/>
            </a:avLst>
          </a:prstGeom>
          <a:solidFill>
            <a:srgbClr val="2D5F3F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1651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Tier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476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— React SPA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984500"/>
            <a:ext cx="406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 Page Application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Virtual DOM рендиране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React Router DOM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Axios HTTP клиент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FormData за файлове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Адаптивен дизайн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Ключово:</a:t>
            </a:r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UI се преначертава динамично без презареждане на страницата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61000" y="4572000"/>
            <a:ext cx="508000" cy="0"/>
          </a:xfrm>
          <a:prstGeom prst="straightConnector1">
            <a:avLst/>
          </a:prstGeom>
          <a:noFill/>
          <a:ln w="25400">
            <a:solidFill>
              <a:srgbClr val="C4793B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096000" y="1651000"/>
            <a:ext cx="4572000" cy="6604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6000" y="1651000"/>
            <a:ext cx="4572000" cy="635000"/>
          </a:xfrm>
          <a:prstGeom prst="roundRect">
            <a:avLst>
              <a:gd name="adj" fmla="val 6000"/>
            </a:avLst>
          </a:prstGeom>
          <a:solidFill>
            <a:srgbClr val="2D5F3F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0" y="1651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Tier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0000" y="2476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— Node.js + Express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0000" y="2984500"/>
            <a:ext cx="406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RESTful API (Stateless)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Middleware верига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JWT автентикация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RBAC авторизация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Multer файлови потоци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CORS защита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Ключово:</a:t>
            </a:r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Неблокиращ I/O обработва стотици едновременни заявки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95000" y="4572000"/>
            <a:ext cx="508000" cy="0"/>
          </a:xfrm>
          <a:prstGeom prst="straightConnector1">
            <a:avLst/>
          </a:prstGeom>
          <a:noFill/>
          <a:ln w="25400">
            <a:solidFill>
              <a:srgbClr val="C4793B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430000" y="1651000"/>
            <a:ext cx="4064000" cy="6604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0" y="1651000"/>
            <a:ext cx="4064000" cy="635000"/>
          </a:xfrm>
          <a:prstGeom prst="roundRect">
            <a:avLst>
              <a:gd name="adj" fmla="val 6000"/>
            </a:avLst>
          </a:prstGeom>
          <a:solidFill>
            <a:srgbClr val="2D5F3F"/>
          </a:solidFill>
          <a:ln/>
        </p:spPr>
      </p:sp>
      <p:sp>
        <p:nvSpPr>
          <p:cNvPr id="24" name="Text 22"/>
          <p:cNvSpPr/>
          <p:nvPr/>
        </p:nvSpPr>
        <p:spPr>
          <a:xfrm>
            <a:off x="11430000" y="16510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Tier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84000" y="2476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SQLite3 RDBMS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684000" y="2984500"/>
            <a:ext cx="3556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Релационен модел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3NF нормализация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ACID транзакции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B-Tree индекси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Параметризирани заявки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Foreign Keys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Ключово:</a:t>
            </a:r>
            <a:pPr>
              <a:lnSpc>
                <a:spcPct val="150000"/>
              </a:lnSpc>
              <a:spcBef>
                <a:spcPts val="16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Цялостност и сигурност на данните на ниво схема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5F3F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Въведение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0" y="50800"/>
            <a:ext cx="38608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Технологии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Реализация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412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Бъдеще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Релационен модел на базата данни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524000" cy="38100"/>
          </a:xfrm>
          <a:prstGeom prst="rect">
            <a:avLst/>
          </a:prstGeom>
          <a:solidFill>
            <a:srgbClr val="C4793B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3937000"/>
        </p:xfrm>
        <a:graphic>
          <a:graphicData uri="http://schemas.openxmlformats.org/drawingml/2006/table">
            <a:tbl>
              <a:tblPr/>
              <a:tblGrid>
                <a:gridCol w="2946400"/>
                <a:gridCol w="2209800"/>
                <a:gridCol w="2209800"/>
                <a:gridCol w="73660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Таблица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Първичен ключ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Връзки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3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 (AI)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class_id → classes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Потребители с роли: student, teacher, admin. Съхранява bcrypt хеш на паролата.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 (AI)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Класове/паралелки (напр. 12А) и учебни предмети.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materials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 (AI)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teacher_id, subject_id, class_id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Сърцевина на платформата — заглавие, описание, видимост (public/class), брой прегледи.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material_files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 (AI)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material_id → materials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One-to-Many връзка — множество файлове към един материал. Съхранява UUID път и размер.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584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КЛЮЧОВИ ХАРАКТЕРИСТИКИ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6413500"/>
            <a:ext cx="3429000" cy="203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0450" y="6604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73563" y="46395"/>
                </a:moveTo>
                <a:cubicBezTo>
                  <a:pt x="180786" y="36463"/>
                  <a:pt x="178564" y="22572"/>
                  <a:pt x="168632" y="15349"/>
                </a:cubicBezTo>
                <a:cubicBezTo>
                  <a:pt x="158700" y="8126"/>
                  <a:pt x="144810" y="10349"/>
                  <a:pt x="137587" y="20280"/>
                </a:cubicBezTo>
                <a:lnTo>
                  <a:pt x="63966" y="121474"/>
                </a:lnTo>
                <a:lnTo>
                  <a:pt x="37921" y="95429"/>
                </a:lnTo>
                <a:cubicBezTo>
                  <a:pt x="29240" y="86747"/>
                  <a:pt x="15141" y="86747"/>
                  <a:pt x="6459" y="95429"/>
                </a:cubicBezTo>
                <a:cubicBezTo>
                  <a:pt x="-2222" y="104110"/>
                  <a:pt x="-2222" y="118209"/>
                  <a:pt x="6459" y="126891"/>
                </a:cubicBezTo>
                <a:lnTo>
                  <a:pt x="50909" y="171341"/>
                </a:lnTo>
                <a:cubicBezTo>
                  <a:pt x="55493" y="175925"/>
                  <a:pt x="61883" y="178286"/>
                  <a:pt x="68342" y="177800"/>
                </a:cubicBezTo>
                <a:cubicBezTo>
                  <a:pt x="74801" y="177314"/>
                  <a:pt x="80774" y="173980"/>
                  <a:pt x="84594" y="168702"/>
                </a:cubicBezTo>
                <a:lnTo>
                  <a:pt x="173494" y="46464"/>
                </a:lnTo>
                <a:close/>
                <a:moveTo>
                  <a:pt x="262463" y="140851"/>
                </a:moveTo>
                <a:cubicBezTo>
                  <a:pt x="269686" y="130919"/>
                  <a:pt x="267464" y="117029"/>
                  <a:pt x="257532" y="109805"/>
                </a:cubicBezTo>
                <a:cubicBezTo>
                  <a:pt x="247600" y="102582"/>
                  <a:pt x="233710" y="104805"/>
                  <a:pt x="226487" y="114737"/>
                </a:cubicBezTo>
                <a:lnTo>
                  <a:pt x="108416" y="277049"/>
                </a:lnTo>
                <a:lnTo>
                  <a:pt x="60146" y="228779"/>
                </a:lnTo>
                <a:cubicBezTo>
                  <a:pt x="51465" y="220097"/>
                  <a:pt x="37366" y="220097"/>
                  <a:pt x="28684" y="228779"/>
                </a:cubicBezTo>
                <a:cubicBezTo>
                  <a:pt x="20002" y="237460"/>
                  <a:pt x="20002" y="251559"/>
                  <a:pt x="28684" y="260241"/>
                </a:cubicBezTo>
                <a:lnTo>
                  <a:pt x="95359" y="326916"/>
                </a:lnTo>
                <a:cubicBezTo>
                  <a:pt x="99943" y="331500"/>
                  <a:pt x="106333" y="333861"/>
                  <a:pt x="112792" y="333375"/>
                </a:cubicBezTo>
                <a:cubicBezTo>
                  <a:pt x="119251" y="332889"/>
                  <a:pt x="125224" y="329555"/>
                  <a:pt x="129044" y="324277"/>
                </a:cubicBezTo>
                <a:lnTo>
                  <a:pt x="262394" y="140920"/>
                </a:ln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14" name="Text 11"/>
          <p:cNvSpPr/>
          <p:nvPr/>
        </p:nvSpPr>
        <p:spPr>
          <a:xfrm>
            <a:off x="1473200" y="6604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3NF Нормализация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16000" y="70612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Елиминиране на дублиране и аномалии при вмъкване/актуализация.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08500" y="6413500"/>
            <a:ext cx="3429000" cy="203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7" name="Shape 14"/>
          <p:cNvSpPr/>
          <p:nvPr/>
        </p:nvSpPr>
        <p:spPr>
          <a:xfrm>
            <a:off x="47625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444" y="133350"/>
                </a:moveTo>
                <a:lnTo>
                  <a:pt x="338931" y="133350"/>
                </a:lnTo>
                <a:cubicBezTo>
                  <a:pt x="348169" y="133350"/>
                  <a:pt x="355600" y="125919"/>
                  <a:pt x="355600" y="116681"/>
                </a:cubicBezTo>
                <a:lnTo>
                  <a:pt x="355600" y="16669"/>
                </a:lnTo>
                <a:cubicBezTo>
                  <a:pt x="355600" y="9932"/>
                  <a:pt x="351572" y="3820"/>
                  <a:pt x="345321" y="1250"/>
                </a:cubicBezTo>
                <a:cubicBezTo>
                  <a:pt x="339070" y="-1320"/>
                  <a:pt x="331916" y="139"/>
                  <a:pt x="327124" y="4862"/>
                </a:cubicBezTo>
                <a:lnTo>
                  <a:pt x="291217" y="40838"/>
                </a:lnTo>
                <a:cubicBezTo>
                  <a:pt x="260449" y="15349"/>
                  <a:pt x="220861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ubicBezTo>
                  <a:pt x="55007" y="94109"/>
                  <a:pt x="110639" y="44450"/>
                  <a:pt x="177800" y="44450"/>
                </a:cubicBezTo>
                <a:cubicBezTo>
                  <a:pt x="208637" y="44450"/>
                  <a:pt x="236974" y="54868"/>
                  <a:pt x="259546" y="72440"/>
                </a:cubicBezTo>
                <a:lnTo>
                  <a:pt x="227112" y="104874"/>
                </a:lnTo>
                <a:cubicBezTo>
                  <a:pt x="222319" y="109666"/>
                  <a:pt x="220930" y="116820"/>
                  <a:pt x="223500" y="123071"/>
                </a:cubicBezTo>
                <a:cubicBezTo>
                  <a:pt x="226070" y="129322"/>
                  <a:pt x="232182" y="133350"/>
                  <a:pt x="238919" y="133350"/>
                </a:cubicBezTo>
                <a:lnTo>
                  <a:pt x="333444" y="133350"/>
                </a:lnTo>
                <a:close/>
                <a:moveTo>
                  <a:pt x="353864" y="203150"/>
                </a:moveTo>
                <a:cubicBezTo>
                  <a:pt x="355600" y="190996"/>
                  <a:pt x="347127" y="179745"/>
                  <a:pt x="335042" y="178008"/>
                </a:cubicBezTo>
                <a:cubicBezTo>
                  <a:pt x="322957" y="176272"/>
                  <a:pt x="311636" y="184745"/>
                  <a:pt x="309900" y="196830"/>
                </a:cubicBezTo>
                <a:cubicBezTo>
                  <a:pt x="300663" y="261422"/>
                  <a:pt x="245031" y="311081"/>
                  <a:pt x="177869" y="311081"/>
                </a:cubicBezTo>
                <a:cubicBezTo>
                  <a:pt x="147032" y="311081"/>
                  <a:pt x="118695" y="300663"/>
                  <a:pt x="96123" y="283091"/>
                </a:cubicBezTo>
                <a:lnTo>
                  <a:pt x="128488" y="250726"/>
                </a:lnTo>
                <a:cubicBezTo>
                  <a:pt x="133281" y="245934"/>
                  <a:pt x="134670" y="238780"/>
                  <a:pt x="132100" y="232529"/>
                </a:cubicBezTo>
                <a:cubicBezTo>
                  <a:pt x="129530" y="226278"/>
                  <a:pt x="123418" y="222250"/>
                  <a:pt x="116681" y="222250"/>
                </a:cubicBezTo>
                <a:lnTo>
                  <a:pt x="16669" y="222250"/>
                </a:lnTo>
                <a:cubicBezTo>
                  <a:pt x="7431" y="222250"/>
                  <a:pt x="0" y="229681"/>
                  <a:pt x="0" y="238919"/>
                </a:cubicBezTo>
                <a:lnTo>
                  <a:pt x="0" y="338931"/>
                </a:lnTo>
                <a:cubicBezTo>
                  <a:pt x="0" y="345668"/>
                  <a:pt x="4028" y="351780"/>
                  <a:pt x="10279" y="354350"/>
                </a:cubicBezTo>
                <a:cubicBezTo>
                  <a:pt x="16530" y="356920"/>
                  <a:pt x="23684" y="355461"/>
                  <a:pt x="28476" y="350738"/>
                </a:cubicBezTo>
                <a:lnTo>
                  <a:pt x="64453" y="314762"/>
                </a:lnTo>
                <a:cubicBezTo>
                  <a:pt x="95151" y="340251"/>
                  <a:pt x="134739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18" name="Text 15"/>
          <p:cNvSpPr/>
          <p:nvPr/>
        </p:nvSpPr>
        <p:spPr>
          <a:xfrm>
            <a:off x="5219700" y="6604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ACID Транзакции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62500" y="70612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COMMIT при успех, ROLLBACK при грешка — няма осиротели записи.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55000" y="6413500"/>
            <a:ext cx="3429000" cy="203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1" name="Shape 18"/>
          <p:cNvSpPr/>
          <p:nvPr/>
        </p:nvSpPr>
        <p:spPr>
          <a:xfrm>
            <a:off x="85090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72231" y="150019"/>
                </a:moveTo>
                <a:lnTo>
                  <a:pt x="72231" y="194469"/>
                </a:lnTo>
                <a:cubicBezTo>
                  <a:pt x="72231" y="203706"/>
                  <a:pt x="79663" y="211138"/>
                  <a:pt x="88900" y="211138"/>
                </a:cubicBezTo>
                <a:cubicBezTo>
                  <a:pt x="98137" y="211138"/>
                  <a:pt x="105569" y="203706"/>
                  <a:pt x="105569" y="194469"/>
                </a:cubicBezTo>
                <a:lnTo>
                  <a:pt x="105569" y="150019"/>
                </a:lnTo>
                <a:cubicBezTo>
                  <a:pt x="105569" y="140781"/>
                  <a:pt x="98137" y="133350"/>
                  <a:pt x="88900" y="133350"/>
                </a:cubicBezTo>
                <a:cubicBezTo>
                  <a:pt x="79663" y="133350"/>
                  <a:pt x="72231" y="140781"/>
                  <a:pt x="72231" y="150019"/>
                </a:cubicBezTo>
                <a:close/>
                <a:moveTo>
                  <a:pt x="127794" y="83344"/>
                </a:moveTo>
                <a:lnTo>
                  <a:pt x="127794" y="194469"/>
                </a:lnTo>
                <a:cubicBezTo>
                  <a:pt x="127794" y="203706"/>
                  <a:pt x="135225" y="211138"/>
                  <a:pt x="144463" y="211138"/>
                </a:cubicBezTo>
                <a:cubicBezTo>
                  <a:pt x="153700" y="211138"/>
                  <a:pt x="161131" y="203706"/>
                  <a:pt x="161131" y="194469"/>
                </a:cubicBezTo>
                <a:lnTo>
                  <a:pt x="161131" y="83344"/>
                </a:lnTo>
                <a:cubicBezTo>
                  <a:pt x="161131" y="74106"/>
                  <a:pt x="153700" y="66675"/>
                  <a:pt x="144463" y="66675"/>
                </a:cubicBezTo>
                <a:cubicBezTo>
                  <a:pt x="135225" y="66675"/>
                  <a:pt x="127794" y="74106"/>
                  <a:pt x="127794" y="83344"/>
                </a:cubicBezTo>
                <a:close/>
                <a:moveTo>
                  <a:pt x="183356" y="127794"/>
                </a:moveTo>
                <a:lnTo>
                  <a:pt x="183356" y="194469"/>
                </a:lnTo>
                <a:cubicBezTo>
                  <a:pt x="183356" y="203706"/>
                  <a:pt x="190788" y="211138"/>
                  <a:pt x="200025" y="211138"/>
                </a:cubicBezTo>
                <a:cubicBezTo>
                  <a:pt x="209262" y="211138"/>
                  <a:pt x="216694" y="203706"/>
                  <a:pt x="216694" y="194469"/>
                </a:cubicBezTo>
                <a:lnTo>
                  <a:pt x="216694" y="127794"/>
                </a:lnTo>
                <a:cubicBezTo>
                  <a:pt x="216694" y="118556"/>
                  <a:pt x="209262" y="111125"/>
                  <a:pt x="200025" y="111125"/>
                </a:cubicBezTo>
                <a:cubicBezTo>
                  <a:pt x="190788" y="111125"/>
                  <a:pt x="183356" y="118556"/>
                  <a:pt x="183356" y="127794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22" name="Text 19"/>
          <p:cNvSpPr/>
          <p:nvPr/>
        </p:nvSpPr>
        <p:spPr>
          <a:xfrm>
            <a:off x="8966200" y="6604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B-Tree Индекси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509000" y="7061200"/>
            <a:ext cx="292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Индекси върху class_id и title за мигновено търсене без Full Table Scan.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2001500" y="6413500"/>
            <a:ext cx="3492500" cy="203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5" name="Shape 22"/>
          <p:cNvSpPr/>
          <p:nvPr/>
        </p:nvSpPr>
        <p:spPr>
          <a:xfrm>
            <a:off x="122555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26" name="Text 23"/>
          <p:cNvSpPr/>
          <p:nvPr/>
        </p:nvSpPr>
        <p:spPr>
          <a:xfrm>
            <a:off x="12712700" y="6604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Параметризирани заявки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255500" y="7061200"/>
            <a:ext cx="2984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Защита от SQL инжектиране чрез placeholder (? ) във всички SQL заявки.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5240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5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C47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270000" cy="508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Реализация и ключови модули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Практическа имплементация на основните софтуерни компоненти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479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5F3F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Въведение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Технологии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0" y="50800"/>
            <a:ext cx="38608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Реализация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412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Бъдеще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Ключови модули на системата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524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7112000" cy="3365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1778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14500" y="1778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автентикация и сесии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3495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Токен със структура Header + Payload + Signature, подписан с HS256 алгоритъм и секретен ключ от .env файла.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Payload съдържа: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id, username, role, class_id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Валидност: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час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защита при компрометиран акаунт на публичен компютър.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1587500"/>
            <a:ext cx="7112000" cy="3365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1778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34500" y="1778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RBAC контрол на достъпа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36000" y="2349500"/>
            <a:ext cx="6604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Фабрична функция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authorizeRole(allowedRoles)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връща middleware за проверка на роли.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Студентски опит за достъп до /upload връща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403 Forbidden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моментално — без SQL заявка.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Защитени: качване, изтриване, админ панел.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270500"/>
            <a:ext cx="7112000" cy="3238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461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14500" y="5461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Мулти-файлови качвания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0325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Multer обработва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multipart/form-data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до 15 файла едновременно към един материал.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транзакция: BEGIN → INSERT materials → INSERT material_files → COMMIT или ROLLBACK при грешка.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5270500"/>
            <a:ext cx="7112000" cy="3238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3" name="Text 21"/>
          <p:cNvSpPr/>
          <p:nvPr/>
        </p:nvSpPr>
        <p:spPr>
          <a:xfrm>
            <a:off x="8636000" y="5461000"/>
            <a:ext cx="63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34500" y="54610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Динамично търсене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6000" y="60325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заявки между materials, users и classes с динамична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конструкция.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Автоматична филтрация: студент вижда само public материали и тези за своя клас.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Търсене по заглавие, описание, автор, категория.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5F3F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Въведение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Технологии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28000" y="50800"/>
            <a:ext cx="38608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1280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Реализация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1412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Бъдеще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Сигурност и софтуерни практики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524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7366000" cy="6858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1841500"/>
            <a:ext cx="660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Нива на защита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3000" y="2311400"/>
            <a:ext cx="1016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7450" y="260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26035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Криптиране на пароли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1000" y="2984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bcrypt хеширане със сол преди съхранение в базата данни.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20775" y="3873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133350"/>
                </a:lnTo>
                <a:cubicBezTo>
                  <a:pt x="0" y="139462"/>
                  <a:pt x="5140" y="144254"/>
                  <a:pt x="10904" y="146268"/>
                </a:cubicBezTo>
                <a:cubicBezTo>
                  <a:pt x="23961" y="150783"/>
                  <a:pt x="33337" y="163215"/>
                  <a:pt x="33337" y="177800"/>
                </a:cubicBezTo>
                <a:cubicBezTo>
                  <a:pt x="33337" y="192385"/>
                  <a:pt x="23961" y="204817"/>
                  <a:pt x="10904" y="209332"/>
                </a:cubicBezTo>
                <a:cubicBezTo>
                  <a:pt x="5140" y="211346"/>
                  <a:pt x="0" y="216138"/>
                  <a:pt x="0" y="22225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222250"/>
                </a:lnTo>
                <a:cubicBezTo>
                  <a:pt x="400050" y="216138"/>
                  <a:pt x="394910" y="211346"/>
                  <a:pt x="389146" y="209332"/>
                </a:cubicBezTo>
                <a:cubicBezTo>
                  <a:pt x="376089" y="204817"/>
                  <a:pt x="366712" y="192385"/>
                  <a:pt x="366712" y="177800"/>
                </a:cubicBezTo>
                <a:cubicBezTo>
                  <a:pt x="366712" y="163215"/>
                  <a:pt x="376089" y="150783"/>
                  <a:pt x="389146" y="146268"/>
                </a:cubicBezTo>
                <a:cubicBezTo>
                  <a:pt x="394910" y="144254"/>
                  <a:pt x="400050" y="139462"/>
                  <a:pt x="400050" y="13335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288925" y="233363"/>
                </a:moveTo>
                <a:lnTo>
                  <a:pt x="288925" y="122238"/>
                </a:lnTo>
                <a:lnTo>
                  <a:pt x="111125" y="122238"/>
                </a:lnTo>
                <a:lnTo>
                  <a:pt x="111125" y="233363"/>
                </a:lnTo>
                <a:lnTo>
                  <a:pt x="288925" y="233363"/>
                </a:lnTo>
                <a:close/>
                <a:moveTo>
                  <a:pt x="77788" y="111125"/>
                </a:moveTo>
                <a:cubicBezTo>
                  <a:pt x="77788" y="98832"/>
                  <a:pt x="87719" y="88900"/>
                  <a:pt x="100013" y="88900"/>
                </a:cubicBezTo>
                <a:lnTo>
                  <a:pt x="300038" y="88900"/>
                </a:lnTo>
                <a:cubicBezTo>
                  <a:pt x="312331" y="88900"/>
                  <a:pt x="322263" y="98832"/>
                  <a:pt x="322263" y="111125"/>
                </a:cubicBezTo>
                <a:lnTo>
                  <a:pt x="322263" y="244475"/>
                </a:lnTo>
                <a:cubicBezTo>
                  <a:pt x="322263" y="256768"/>
                  <a:pt x="312331" y="266700"/>
                  <a:pt x="300038" y="266700"/>
                </a:cubicBezTo>
                <a:lnTo>
                  <a:pt x="100013" y="266700"/>
                </a:lnTo>
                <a:cubicBezTo>
                  <a:pt x="87719" y="266700"/>
                  <a:pt x="77788" y="256768"/>
                  <a:pt x="77788" y="244475"/>
                </a:cubicBezTo>
                <a:lnTo>
                  <a:pt x="77788" y="111125"/>
                </a:ln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17" name="Text 15"/>
          <p:cNvSpPr/>
          <p:nvPr/>
        </p:nvSpPr>
        <p:spPr>
          <a:xfrm>
            <a:off x="1651000" y="38735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Защита на сесиите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4254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токени с expiry от 1 час — stateless автентикация.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20775" y="5143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862" y="-17294"/>
                </a:moveTo>
                <a:cubicBezTo>
                  <a:pt x="11390" y="-23822"/>
                  <a:pt x="21947" y="-23822"/>
                  <a:pt x="28406" y="-17294"/>
                </a:cubicBezTo>
                <a:lnTo>
                  <a:pt x="167938" y="122238"/>
                </a:lnTo>
                <a:lnTo>
                  <a:pt x="238919" y="122238"/>
                </a:lnTo>
                <a:cubicBezTo>
                  <a:pt x="248781" y="122238"/>
                  <a:pt x="258157" y="124182"/>
                  <a:pt x="266700" y="127794"/>
                </a:cubicBezTo>
                <a:lnTo>
                  <a:pt x="342265" y="71120"/>
                </a:lnTo>
                <a:cubicBezTo>
                  <a:pt x="352058" y="63758"/>
                  <a:pt x="366018" y="65772"/>
                  <a:pt x="373380" y="75565"/>
                </a:cubicBezTo>
                <a:cubicBezTo>
                  <a:pt x="380742" y="85358"/>
                  <a:pt x="378728" y="99318"/>
                  <a:pt x="368935" y="106680"/>
                </a:cubicBezTo>
                <a:lnTo>
                  <a:pt x="301010" y="157589"/>
                </a:lnTo>
                <a:cubicBezTo>
                  <a:pt x="304691" y="163770"/>
                  <a:pt x="307469" y="170577"/>
                  <a:pt x="309205" y="177800"/>
                </a:cubicBezTo>
                <a:lnTo>
                  <a:pt x="377825" y="177800"/>
                </a:lnTo>
                <a:cubicBezTo>
                  <a:pt x="390118" y="177800"/>
                  <a:pt x="400050" y="187732"/>
                  <a:pt x="400050" y="200025"/>
                </a:cubicBezTo>
                <a:cubicBezTo>
                  <a:pt x="400050" y="212318"/>
                  <a:pt x="390118" y="222250"/>
                  <a:pt x="377825" y="222250"/>
                </a:cubicBezTo>
                <a:lnTo>
                  <a:pt x="311150" y="222250"/>
                </a:lnTo>
                <a:lnTo>
                  <a:pt x="311150" y="244475"/>
                </a:lnTo>
                <a:cubicBezTo>
                  <a:pt x="311150" y="251073"/>
                  <a:pt x="310594" y="257463"/>
                  <a:pt x="309483" y="263783"/>
                </a:cubicBezTo>
                <a:lnTo>
                  <a:pt x="395188" y="349419"/>
                </a:lnTo>
                <a:cubicBezTo>
                  <a:pt x="401717" y="355947"/>
                  <a:pt x="401717" y="366504"/>
                  <a:pt x="395188" y="372963"/>
                </a:cubicBezTo>
                <a:cubicBezTo>
                  <a:pt x="388660" y="379422"/>
                  <a:pt x="378103" y="379492"/>
                  <a:pt x="371644" y="372963"/>
                </a:cubicBezTo>
                <a:lnTo>
                  <a:pt x="4862" y="6320"/>
                </a:lnTo>
                <a:cubicBezTo>
                  <a:pt x="-1597" y="-208"/>
                  <a:pt x="-1597" y="-10765"/>
                  <a:pt x="4862" y="-17294"/>
                </a:cubicBezTo>
                <a:close/>
                <a:moveTo>
                  <a:pt x="276562" y="325041"/>
                </a:moveTo>
                <a:cubicBezTo>
                  <a:pt x="260449" y="340390"/>
                  <a:pt x="239752" y="350877"/>
                  <a:pt x="216694" y="354350"/>
                </a:cubicBezTo>
                <a:lnTo>
                  <a:pt x="216694" y="265172"/>
                </a:lnTo>
                <a:lnTo>
                  <a:pt x="276562" y="325041"/>
                </a:lnTo>
                <a:close/>
                <a:moveTo>
                  <a:pt x="183356" y="231835"/>
                </a:moveTo>
                <a:lnTo>
                  <a:pt x="183356" y="354350"/>
                </a:lnTo>
                <a:cubicBezTo>
                  <a:pt x="147796" y="349002"/>
                  <a:pt x="117723" y="326777"/>
                  <a:pt x="101610" y="296079"/>
                </a:cubicBezTo>
                <a:lnTo>
                  <a:pt x="57785" y="328930"/>
                </a:lnTo>
                <a:cubicBezTo>
                  <a:pt x="47992" y="336292"/>
                  <a:pt x="34032" y="334278"/>
                  <a:pt x="26670" y="324485"/>
                </a:cubicBezTo>
                <a:cubicBezTo>
                  <a:pt x="19308" y="314692"/>
                  <a:pt x="21322" y="300732"/>
                  <a:pt x="31115" y="293370"/>
                </a:cubicBezTo>
                <a:lnTo>
                  <a:pt x="89039" y="249962"/>
                </a:lnTo>
                <a:cubicBezTo>
                  <a:pt x="88969" y="248156"/>
                  <a:pt x="88900" y="246350"/>
                  <a:pt x="88900" y="244475"/>
                </a:cubicBezTo>
                <a:lnTo>
                  <a:pt x="88900" y="222250"/>
                </a:lnTo>
                <a:lnTo>
                  <a:pt x="22225" y="222250"/>
                </a:lnTo>
                <a:cubicBezTo>
                  <a:pt x="9932" y="222250"/>
                  <a:pt x="0" y="212318"/>
                  <a:pt x="0" y="200025"/>
                </a:cubicBezTo>
                <a:cubicBezTo>
                  <a:pt x="0" y="187732"/>
                  <a:pt x="9932" y="177800"/>
                  <a:pt x="22225" y="177800"/>
                </a:cubicBezTo>
                <a:lnTo>
                  <a:pt x="90845" y="177800"/>
                </a:lnTo>
                <a:cubicBezTo>
                  <a:pt x="93137" y="168146"/>
                  <a:pt x="97304" y="159256"/>
                  <a:pt x="103068" y="151547"/>
                </a:cubicBezTo>
                <a:lnTo>
                  <a:pt x="183356" y="231835"/>
                </a:lnTo>
                <a:close/>
                <a:moveTo>
                  <a:pt x="246975" y="88900"/>
                </a:moveTo>
                <a:lnTo>
                  <a:pt x="189746" y="88900"/>
                </a:lnTo>
                <a:lnTo>
                  <a:pt x="139531" y="38685"/>
                </a:lnTo>
                <a:cubicBezTo>
                  <a:pt x="150088" y="15835"/>
                  <a:pt x="173216" y="0"/>
                  <a:pt x="200025" y="0"/>
                </a:cubicBezTo>
                <a:cubicBezTo>
                  <a:pt x="236835" y="0"/>
                  <a:pt x="266700" y="29865"/>
                  <a:pt x="266700" y="66675"/>
                </a:cubicBezTo>
                <a:lnTo>
                  <a:pt x="266700" y="69175"/>
                </a:lnTo>
                <a:cubicBezTo>
                  <a:pt x="266700" y="80079"/>
                  <a:pt x="257879" y="88900"/>
                  <a:pt x="246975" y="88900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20" name="Text 18"/>
          <p:cNvSpPr/>
          <p:nvPr/>
        </p:nvSpPr>
        <p:spPr>
          <a:xfrm>
            <a:off x="1651000" y="51435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Противодействие на атаки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51000" y="5524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Валидация и санитизация на входа — защита от SQLi и XSS.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20775" y="6413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0"/>
                </a:moveTo>
                <a:cubicBezTo>
                  <a:pt x="42158" y="0"/>
                  <a:pt x="22225" y="19933"/>
                  <a:pt x="22225" y="44450"/>
                </a:cubicBezTo>
                <a:lnTo>
                  <a:pt x="22225" y="311150"/>
                </a:lnTo>
                <a:cubicBezTo>
                  <a:pt x="22225" y="335667"/>
                  <a:pt x="42158" y="355600"/>
                  <a:pt x="66675" y="355600"/>
                </a:cubicBezTo>
                <a:lnTo>
                  <a:pt x="206415" y="355600"/>
                </a:lnTo>
                <a:cubicBezTo>
                  <a:pt x="181273" y="326013"/>
                  <a:pt x="166688" y="287883"/>
                  <a:pt x="166688" y="247531"/>
                </a:cubicBezTo>
                <a:lnTo>
                  <a:pt x="166688" y="225931"/>
                </a:lnTo>
                <a:cubicBezTo>
                  <a:pt x="166688" y="202039"/>
                  <a:pt x="181967" y="180786"/>
                  <a:pt x="204678" y="173216"/>
                </a:cubicBezTo>
                <a:lnTo>
                  <a:pt x="282466" y="147310"/>
                </a:lnTo>
                <a:cubicBezTo>
                  <a:pt x="284619" y="146616"/>
                  <a:pt x="286772" y="146060"/>
                  <a:pt x="288925" y="145574"/>
                </a:cubicBezTo>
                <a:lnTo>
                  <a:pt x="288925" y="118418"/>
                </a:lnTo>
                <a:cubicBezTo>
                  <a:pt x="288925" y="106611"/>
                  <a:pt x="284272" y="95290"/>
                  <a:pt x="275937" y="86955"/>
                </a:cubicBezTo>
                <a:lnTo>
                  <a:pt x="201900" y="12988"/>
                </a:lnTo>
                <a:cubicBezTo>
                  <a:pt x="193566" y="4653"/>
                  <a:pt x="182314" y="0"/>
                  <a:pt x="170507" y="0"/>
                </a:cubicBezTo>
                <a:lnTo>
                  <a:pt x="66675" y="0"/>
                </a:lnTo>
                <a:close/>
                <a:moveTo>
                  <a:pt x="248295" y="122238"/>
                </a:moveTo>
                <a:lnTo>
                  <a:pt x="183356" y="122238"/>
                </a:lnTo>
                <a:cubicBezTo>
                  <a:pt x="174119" y="122238"/>
                  <a:pt x="166688" y="114806"/>
                  <a:pt x="166688" y="105569"/>
                </a:cubicBezTo>
                <a:lnTo>
                  <a:pt x="166688" y="40630"/>
                </a:lnTo>
                <a:lnTo>
                  <a:pt x="248295" y="122238"/>
                </a:lnTo>
                <a:close/>
                <a:moveTo>
                  <a:pt x="309275" y="339279"/>
                </a:moveTo>
                <a:lnTo>
                  <a:pt x="300038" y="343654"/>
                </a:lnTo>
                <a:lnTo>
                  <a:pt x="300038" y="213013"/>
                </a:lnTo>
                <a:lnTo>
                  <a:pt x="366712" y="235238"/>
                </a:lnTo>
                <a:lnTo>
                  <a:pt x="366712" y="248851"/>
                </a:lnTo>
                <a:cubicBezTo>
                  <a:pt x="366712" y="287605"/>
                  <a:pt x="344349" y="322818"/>
                  <a:pt x="309275" y="339348"/>
                </a:cubicBezTo>
                <a:close/>
                <a:moveTo>
                  <a:pt x="293023" y="180231"/>
                </a:moveTo>
                <a:lnTo>
                  <a:pt x="215235" y="206137"/>
                </a:lnTo>
                <a:cubicBezTo>
                  <a:pt x="206137" y="209193"/>
                  <a:pt x="200025" y="217666"/>
                  <a:pt x="200025" y="227251"/>
                </a:cubicBezTo>
                <a:lnTo>
                  <a:pt x="200025" y="248851"/>
                </a:lnTo>
                <a:cubicBezTo>
                  <a:pt x="200025" y="300524"/>
                  <a:pt x="229890" y="347543"/>
                  <a:pt x="276562" y="369491"/>
                </a:cubicBezTo>
                <a:lnTo>
                  <a:pt x="289411" y="375533"/>
                </a:lnTo>
                <a:cubicBezTo>
                  <a:pt x="292745" y="377061"/>
                  <a:pt x="296356" y="377894"/>
                  <a:pt x="299968" y="377894"/>
                </a:cubicBezTo>
                <a:cubicBezTo>
                  <a:pt x="303580" y="377894"/>
                  <a:pt x="307261" y="377061"/>
                  <a:pt x="310525" y="375533"/>
                </a:cubicBezTo>
                <a:lnTo>
                  <a:pt x="323374" y="369491"/>
                </a:lnTo>
                <a:cubicBezTo>
                  <a:pt x="370185" y="347474"/>
                  <a:pt x="400050" y="300454"/>
                  <a:pt x="400050" y="248781"/>
                </a:cubicBezTo>
                <a:lnTo>
                  <a:pt x="400050" y="227181"/>
                </a:lnTo>
                <a:cubicBezTo>
                  <a:pt x="400050" y="217597"/>
                  <a:pt x="393938" y="209123"/>
                  <a:pt x="384840" y="206067"/>
                </a:cubicBezTo>
                <a:lnTo>
                  <a:pt x="307052" y="180161"/>
                </a:lnTo>
                <a:cubicBezTo>
                  <a:pt x="302468" y="178633"/>
                  <a:pt x="297537" y="178633"/>
                  <a:pt x="293023" y="180161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23" name="Text 21"/>
          <p:cNvSpPr/>
          <p:nvPr/>
        </p:nvSpPr>
        <p:spPr>
          <a:xfrm>
            <a:off x="1651000" y="64135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Сигурно управление на файлове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51000" y="67945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MIME type валидация и ограничен директен достъп до uploads/.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43000" y="7683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8842" y="19169"/>
                </a:moveTo>
                <a:cubicBezTo>
                  <a:pt x="178286" y="15419"/>
                  <a:pt x="175439" y="12363"/>
                  <a:pt x="171688" y="11807"/>
                </a:cubicBezTo>
                <a:cubicBezTo>
                  <a:pt x="156339" y="9654"/>
                  <a:pt x="140712" y="12432"/>
                  <a:pt x="126960" y="19725"/>
                </a:cubicBezTo>
                <a:lnTo>
                  <a:pt x="75565" y="47159"/>
                </a:lnTo>
                <a:cubicBezTo>
                  <a:pt x="61883" y="54451"/>
                  <a:pt x="50840" y="65911"/>
                  <a:pt x="44033" y="79871"/>
                </a:cubicBezTo>
                <a:lnTo>
                  <a:pt x="18544" y="132378"/>
                </a:lnTo>
                <a:cubicBezTo>
                  <a:pt x="11738" y="146338"/>
                  <a:pt x="9515" y="162173"/>
                  <a:pt x="12224" y="177453"/>
                </a:cubicBezTo>
                <a:lnTo>
                  <a:pt x="22294" y="234960"/>
                </a:lnTo>
                <a:cubicBezTo>
                  <a:pt x="25003" y="250309"/>
                  <a:pt x="32435" y="264339"/>
                  <a:pt x="43617" y="275173"/>
                </a:cubicBezTo>
                <a:lnTo>
                  <a:pt x="85497" y="315734"/>
                </a:lnTo>
                <a:cubicBezTo>
                  <a:pt x="96679" y="326569"/>
                  <a:pt x="110917" y="333514"/>
                  <a:pt x="126266" y="335667"/>
                </a:cubicBezTo>
                <a:lnTo>
                  <a:pt x="183912" y="343793"/>
                </a:lnTo>
                <a:cubicBezTo>
                  <a:pt x="199261" y="345946"/>
                  <a:pt x="214888" y="343168"/>
                  <a:pt x="228640" y="335875"/>
                </a:cubicBezTo>
                <a:lnTo>
                  <a:pt x="280035" y="308441"/>
                </a:lnTo>
                <a:cubicBezTo>
                  <a:pt x="293717" y="301149"/>
                  <a:pt x="304760" y="289689"/>
                  <a:pt x="311567" y="275659"/>
                </a:cubicBezTo>
                <a:lnTo>
                  <a:pt x="337056" y="223222"/>
                </a:lnTo>
                <a:cubicBezTo>
                  <a:pt x="343862" y="209262"/>
                  <a:pt x="346085" y="193427"/>
                  <a:pt x="343376" y="178147"/>
                </a:cubicBezTo>
                <a:cubicBezTo>
                  <a:pt x="342751" y="174466"/>
                  <a:pt x="339695" y="171688"/>
                  <a:pt x="336014" y="171133"/>
                </a:cubicBezTo>
                <a:cubicBezTo>
                  <a:pt x="300246" y="165437"/>
                  <a:pt x="271562" y="138420"/>
                  <a:pt x="263436" y="103485"/>
                </a:cubicBezTo>
                <a:cubicBezTo>
                  <a:pt x="262186" y="98207"/>
                  <a:pt x="257879" y="94178"/>
                  <a:pt x="252532" y="93345"/>
                </a:cubicBezTo>
                <a:cubicBezTo>
                  <a:pt x="214610" y="87303"/>
                  <a:pt x="184676" y="57229"/>
                  <a:pt x="178772" y="19169"/>
                </a:cubicBezTo>
                <a:close/>
                <a:moveTo>
                  <a:pt x="144463" y="100013"/>
                </a:moveTo>
                <a:cubicBezTo>
                  <a:pt x="156729" y="100013"/>
                  <a:pt x="166688" y="109971"/>
                  <a:pt x="166688" y="122238"/>
                </a:cubicBezTo>
                <a:cubicBezTo>
                  <a:pt x="166688" y="134504"/>
                  <a:pt x="156729" y="144463"/>
                  <a:pt x="144463" y="144463"/>
                </a:cubicBezTo>
                <a:cubicBezTo>
                  <a:pt x="132196" y="144463"/>
                  <a:pt x="122238" y="134504"/>
                  <a:pt x="122238" y="122238"/>
                </a:cubicBezTo>
                <a:cubicBezTo>
                  <a:pt x="122238" y="109971"/>
                  <a:pt x="132196" y="100013"/>
                  <a:pt x="144463" y="100013"/>
                </a:cubicBezTo>
                <a:close/>
                <a:moveTo>
                  <a:pt x="100013" y="233363"/>
                </a:moveTo>
                <a:cubicBezTo>
                  <a:pt x="100013" y="221096"/>
                  <a:pt x="109971" y="211138"/>
                  <a:pt x="122238" y="211138"/>
                </a:cubicBezTo>
                <a:cubicBezTo>
                  <a:pt x="134504" y="211138"/>
                  <a:pt x="144463" y="221096"/>
                  <a:pt x="144463" y="233363"/>
                </a:cubicBezTo>
                <a:cubicBezTo>
                  <a:pt x="144463" y="245629"/>
                  <a:pt x="134504" y="255587"/>
                  <a:pt x="122238" y="255587"/>
                </a:cubicBezTo>
                <a:cubicBezTo>
                  <a:pt x="109971" y="255587"/>
                  <a:pt x="100013" y="245629"/>
                  <a:pt x="100013" y="233363"/>
                </a:cubicBezTo>
                <a:close/>
                <a:moveTo>
                  <a:pt x="255587" y="188913"/>
                </a:moveTo>
                <a:cubicBezTo>
                  <a:pt x="267854" y="188913"/>
                  <a:pt x="277813" y="198871"/>
                  <a:pt x="277813" y="211138"/>
                </a:cubicBezTo>
                <a:cubicBezTo>
                  <a:pt x="277813" y="223404"/>
                  <a:pt x="267854" y="233363"/>
                  <a:pt x="255587" y="233363"/>
                </a:cubicBezTo>
                <a:cubicBezTo>
                  <a:pt x="243321" y="233363"/>
                  <a:pt x="233363" y="223404"/>
                  <a:pt x="233363" y="211138"/>
                </a:cubicBezTo>
                <a:cubicBezTo>
                  <a:pt x="233363" y="198871"/>
                  <a:pt x="243321" y="188913"/>
                  <a:pt x="255587" y="188913"/>
                </a:cubicBezTo>
                <a:close/>
              </a:path>
            </a:pathLst>
          </a:custGeom>
          <a:solidFill>
            <a:srgbClr val="2D5F3F"/>
          </a:solidFill>
          <a:ln/>
        </p:spPr>
      </p:sp>
      <p:sp>
        <p:nvSpPr>
          <p:cNvPr id="26" name="Text 24"/>
          <p:cNvSpPr/>
          <p:nvPr/>
        </p:nvSpPr>
        <p:spPr>
          <a:xfrm>
            <a:off x="1651000" y="76835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GDPR съответствие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51000" y="8064500"/>
            <a:ext cx="6096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Cookie Consent банер за информирано съгласие.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36000" y="1587500"/>
            <a:ext cx="6858000" cy="6858000"/>
          </a:xfrm>
          <a:prstGeom prst="roundRect">
            <a:avLst>
              <a:gd name="adj" fmla="val 6000"/>
            </a:avLst>
          </a:prstGeom>
          <a:solidFill>
            <a:srgbClr val="2D5F3F"/>
          </a:solidFill>
          <a:ln/>
        </p:spPr>
      </p:sp>
      <p:sp>
        <p:nvSpPr>
          <p:cNvPr id="29" name="Text 27"/>
          <p:cNvSpPr/>
          <p:nvPr/>
        </p:nvSpPr>
        <p:spPr>
          <a:xfrm>
            <a:off x="9017000" y="19685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Софтуерни практики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17000" y="2476500"/>
            <a:ext cx="1016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31" name="Text 29"/>
          <p:cNvSpPr/>
          <p:nvPr/>
        </p:nvSpPr>
        <p:spPr>
          <a:xfrm>
            <a:off x="9017000" y="2794000"/>
            <a:ext cx="6096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 Version Control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пълна проследяемост на промените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.gitignore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защита на тайни (JWT_SECRET, node_modules)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Миграционни скриптове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check_schema.js, make_admin.js, seed_materials.js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ESLint + Prettier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консистентен код спрямо индустриални стандарти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.env конфигурация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изолиране на средни променливи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Разделение на concerns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/client, /routes, /utils, /scripts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5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b="1" dirty="0">
                <a:solidFill>
                  <a:srgbClr val="C47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762000" y="3683000"/>
            <a:ext cx="1270000" cy="508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3937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Бъдещо развитие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82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Възможности за надграждане и разширяване на платформата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4793B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5F3F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 Въведение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Технологии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Реализация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141200" y="50800"/>
            <a:ext cx="3860800" cy="355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141200" y="50800"/>
            <a:ext cx="3860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Бъдеще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2000" y="7112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5F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Възможности за разширяване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62000" y="1244600"/>
            <a:ext cx="1524000" cy="381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15875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1" name="Shape 9"/>
          <p:cNvSpPr/>
          <p:nvPr/>
        </p:nvSpPr>
        <p:spPr>
          <a:xfrm>
            <a:off x="987425" y="1841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C47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18415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Storage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24765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Интеграция с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AWS S3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или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Cloud Storage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за безкрайна мащабируемост и разтоварване на локалния сървър.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0" y="15875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5" name="Shape 13"/>
          <p:cNvSpPr/>
          <p:nvPr/>
        </p:nvSpPr>
        <p:spPr>
          <a:xfrm>
            <a:off x="6061075" y="1841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0"/>
                </a:moveTo>
                <a:cubicBezTo>
                  <a:pt x="184219" y="0"/>
                  <a:pt x="171450" y="12769"/>
                  <a:pt x="171450" y="28575"/>
                </a:cubicBezTo>
                <a:lnTo>
                  <a:pt x="171450" y="31433"/>
                </a:lnTo>
                <a:cubicBezTo>
                  <a:pt x="106263" y="44648"/>
                  <a:pt x="57150" y="102334"/>
                  <a:pt x="57150" y="171450"/>
                </a:cubicBezTo>
                <a:lnTo>
                  <a:pt x="57150" y="190827"/>
                </a:lnTo>
                <a:cubicBezTo>
                  <a:pt x="57150" y="233779"/>
                  <a:pt x="42505" y="275481"/>
                  <a:pt x="15716" y="309056"/>
                </a:cubicBezTo>
                <a:lnTo>
                  <a:pt x="6965" y="319951"/>
                </a:lnTo>
                <a:cubicBezTo>
                  <a:pt x="2411" y="325576"/>
                  <a:pt x="0" y="332542"/>
                  <a:pt x="0" y="339775"/>
                </a:cubicBezTo>
                <a:cubicBezTo>
                  <a:pt x="0" y="357277"/>
                  <a:pt x="14198" y="371475"/>
                  <a:pt x="31700" y="371475"/>
                </a:cubicBezTo>
                <a:lnTo>
                  <a:pt x="368260" y="371475"/>
                </a:lnTo>
                <a:cubicBezTo>
                  <a:pt x="385763" y="371475"/>
                  <a:pt x="399961" y="357277"/>
                  <a:pt x="399961" y="339775"/>
                </a:cubicBezTo>
                <a:cubicBezTo>
                  <a:pt x="399961" y="332542"/>
                  <a:pt x="397550" y="325576"/>
                  <a:pt x="392996" y="319951"/>
                </a:cubicBezTo>
                <a:lnTo>
                  <a:pt x="384244" y="309056"/>
                </a:lnTo>
                <a:cubicBezTo>
                  <a:pt x="357545" y="275481"/>
                  <a:pt x="342900" y="233779"/>
                  <a:pt x="342900" y="190827"/>
                </a:cubicBezTo>
                <a:lnTo>
                  <a:pt x="342900" y="171450"/>
                </a:lnTo>
                <a:cubicBezTo>
                  <a:pt x="342900" y="102334"/>
                  <a:pt x="293787" y="44648"/>
                  <a:pt x="228600" y="31432"/>
                </a:cubicBezTo>
                <a:lnTo>
                  <a:pt x="228600" y="28575"/>
                </a:lnTo>
                <a:cubicBezTo>
                  <a:pt x="228600" y="12769"/>
                  <a:pt x="215831" y="0"/>
                  <a:pt x="200025" y="0"/>
                </a:cubicBezTo>
                <a:close/>
                <a:moveTo>
                  <a:pt x="144661" y="414338"/>
                </a:moveTo>
                <a:cubicBezTo>
                  <a:pt x="151001" y="438983"/>
                  <a:pt x="173415" y="457200"/>
                  <a:pt x="200025" y="457200"/>
                </a:cubicBezTo>
                <a:cubicBezTo>
                  <a:pt x="226635" y="457200"/>
                  <a:pt x="249049" y="438983"/>
                  <a:pt x="255389" y="414338"/>
                </a:cubicBezTo>
                <a:lnTo>
                  <a:pt x="144661" y="414338"/>
                </a:lnTo>
                <a:close/>
              </a:path>
            </a:pathLst>
          </a:custGeom>
          <a:solidFill>
            <a:srgbClr val="C47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616700" y="18415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Нотификации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2500" y="24765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Реалновременни известия чрез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WebSockets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автоматични email нотификации при нов материал или файл.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795000" y="1587500"/>
            <a:ext cx="4699000" cy="330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06150" y="1841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78070" y="28575"/>
                </a:moveTo>
                <a:lnTo>
                  <a:pt x="285750" y="28575"/>
                </a:lnTo>
                <a:cubicBezTo>
                  <a:pt x="317272" y="28575"/>
                  <a:pt x="342900" y="54203"/>
                  <a:pt x="342900" y="857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64830" y="28575"/>
                </a:lnTo>
                <a:cubicBezTo>
                  <a:pt x="74652" y="11519"/>
                  <a:pt x="93137" y="0"/>
                  <a:pt x="114300" y="0"/>
                </a:cubicBezTo>
                <a:lnTo>
                  <a:pt x="228600" y="0"/>
                </a:lnTo>
                <a:cubicBezTo>
                  <a:pt x="249763" y="0"/>
                  <a:pt x="268248" y="11519"/>
                  <a:pt x="278070" y="28575"/>
                </a:cubicBezTo>
                <a:close/>
                <a:moveTo>
                  <a:pt x="221456" y="100013"/>
                </a:moveTo>
                <a:cubicBezTo>
                  <a:pt x="233333" y="100013"/>
                  <a:pt x="242888" y="90458"/>
                  <a:pt x="242888" y="78581"/>
                </a:cubicBezTo>
                <a:cubicBezTo>
                  <a:pt x="242888" y="66705"/>
                  <a:pt x="233333" y="57150"/>
                  <a:pt x="221456" y="57150"/>
                </a:cubicBezTo>
                <a:lnTo>
                  <a:pt x="121444" y="57150"/>
                </a:lnTo>
                <a:cubicBezTo>
                  <a:pt x="109567" y="57150"/>
                  <a:pt x="100013" y="66705"/>
                  <a:pt x="100013" y="78581"/>
                </a:cubicBezTo>
                <a:cubicBezTo>
                  <a:pt x="100013" y="90458"/>
                  <a:pt x="109567" y="100013"/>
                  <a:pt x="121444" y="100013"/>
                </a:cubicBezTo>
                <a:lnTo>
                  <a:pt x="221456" y="100013"/>
                </a:lnTo>
                <a:close/>
                <a:moveTo>
                  <a:pt x="246817" y="232797"/>
                </a:moveTo>
                <a:cubicBezTo>
                  <a:pt x="253067" y="222796"/>
                  <a:pt x="250031" y="209580"/>
                  <a:pt x="240030" y="203240"/>
                </a:cubicBezTo>
                <a:cubicBezTo>
                  <a:pt x="230029" y="196900"/>
                  <a:pt x="216813" y="200025"/>
                  <a:pt x="210473" y="210026"/>
                </a:cubicBezTo>
                <a:lnTo>
                  <a:pt x="155644" y="297805"/>
                </a:lnTo>
                <a:lnTo>
                  <a:pt x="131534" y="265658"/>
                </a:lnTo>
                <a:cubicBezTo>
                  <a:pt x="124391" y="256193"/>
                  <a:pt x="110996" y="254228"/>
                  <a:pt x="101531" y="261372"/>
                </a:cubicBezTo>
                <a:cubicBezTo>
                  <a:pt x="92065" y="268516"/>
                  <a:pt x="90101" y="281910"/>
                  <a:pt x="97244" y="291376"/>
                </a:cubicBezTo>
                <a:lnTo>
                  <a:pt x="140107" y="348526"/>
                </a:lnTo>
                <a:cubicBezTo>
                  <a:pt x="144304" y="354151"/>
                  <a:pt x="151090" y="357366"/>
                  <a:pt x="158145" y="357098"/>
                </a:cubicBezTo>
                <a:cubicBezTo>
                  <a:pt x="165199" y="356830"/>
                  <a:pt x="171629" y="353080"/>
                  <a:pt x="175379" y="347008"/>
                </a:cubicBezTo>
                <a:lnTo>
                  <a:pt x="246817" y="232708"/>
                </a:lnTo>
                <a:close/>
              </a:path>
            </a:pathLst>
          </a:custGeom>
          <a:solidFill>
            <a:srgbClr val="C47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1633200" y="18415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Задания и оценяване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49000" y="24765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Модул за електронни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задания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възлагане, качване на решения и оценяване през системата.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270500"/>
            <a:ext cx="7112000" cy="3238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C4793B"/>
          </a:solidFill>
          <a:ln/>
        </p:spPr>
      </p:sp>
      <p:sp>
        <p:nvSpPr>
          <p:cNvPr id="24" name="Text 22"/>
          <p:cNvSpPr/>
          <p:nvPr/>
        </p:nvSpPr>
        <p:spPr>
          <a:xfrm>
            <a:off x="1600200" y="55245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Аналитичен център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61595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Разширени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dashboard-и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за администратори и учители с визуализации — изтегляния по клас, най-популярни ресурси, месечна активност.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5270500"/>
            <a:ext cx="7112000" cy="32385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27" name="Shape 25"/>
          <p:cNvSpPr/>
          <p:nvPr/>
        </p:nvSpPr>
        <p:spPr>
          <a:xfrm>
            <a:off x="8636000" y="5524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C4793B"/>
          </a:solidFill>
          <a:ln/>
        </p:spPr>
      </p:sp>
      <p:sp>
        <p:nvSpPr>
          <p:cNvPr id="28" name="Text 26"/>
          <p:cNvSpPr/>
          <p:nvPr/>
        </p:nvSpPr>
        <p:spPr>
          <a:xfrm>
            <a:off x="9220200" y="5524500"/>
            <a:ext cx="584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5F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CI/CD автоматизация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36000" y="61595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Integration/Deployment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автоматично тестване на всяка нова функция преди продукционен деплоймънт.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B7B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5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50800"/>
          </a:xfrm>
          <a:prstGeom prst="rect">
            <a:avLst/>
          </a:prstGeom>
          <a:solidFill>
            <a:srgbClr val="C4793B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2667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Благодаря за вниманието!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3810000"/>
            <a:ext cx="1016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Платформа за управление на учебни ресурси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48000" y="444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Николай Иванов Недялков | 12А клас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48000" y="4953000"/>
            <a:ext cx="1016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Приложно програмиране | Компютърни науки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48000" y="5461000"/>
            <a:ext cx="1016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8E2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Ръководител: Галина Иванова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18000" y="6477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C47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Въпроси?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4793B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Платформа за управление на учебни ресурси</dc:title>
  <dc:subject>Платформа за управление на учебни ресурси</dc:subject>
  <dc:creator>Kimi</dc:creator>
  <cp:lastModifiedBy>Kimi</cp:lastModifiedBy>
  <cp:revision>1</cp:revision>
  <dcterms:created xsi:type="dcterms:W3CDTF">2026-05-21T12:32:03Z</dcterms:created>
  <dcterms:modified xsi:type="dcterms:W3CDTF">2026-05-21T12:32:03Z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{"Label":"Платформа за управление на учебни ресурси","ContentProducer":"001191110108MACG2KBH8F10000","ProduceID":"19e4a7e2-c542-8f44-8000-0000264e38b2","ReservedCode1":"","ContentPropagator":"001191110108MACG2KBH8F20000","PropagateID":"19e4a7e2-c542-8f44-8000-0000264e38b2","ReservedCode2":""}</vt:lpwstr>
  </property>
</Properties>
</file>